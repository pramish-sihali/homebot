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PRAMISH. 15-minute slot: about 6 minutes of slides, 7 minutes of live demo, the rest for questions.</a:t>
            </a:r>
          </a:p>
          <a:p/>
          <a:p>
            <a:r>
              <a:t>Opening line: 'A robot walks around on a grid. We wrote down its walk as a string, and then we built three machines to ask three increasingly hard questions about that string.'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PRAMISH. The fourth bullet is the one worth dwelling on — it drove every other decision. A demo the room cannot verify is a demo the room has to take on faith, and that is worth nothing in a theory course.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PRAMISH. Draw the walk in the air with a finger while reading NNESSW out loud. Up, up, right, down, down, left — and you are back where you started. Point at the picture: that is the whole input.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RISTA. This is the map of the whole project — leave it up long enough for people to read the middle column.</a:t>
            </a:r>
          </a:p>
          <a:p/>
          <a:p>
            <a:r>
              <a:t>The three questions are not nested. A walk can fail question 1 and still pass questions 2 and 3. That surprises people, and we demonstrate it live later.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RISTA. Six states, and that is the entire memory of the machine. It cannot tell you where the robot finished — it has nowhere to put that information. That limitation is the whole reason tier 2 exists.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RISTA. The signed-tally idea is the design decision worth flagging: our first instinct was to treat N as an opening bracket and S as a closing one, but SSNN is perfectly balanced for our purposes and would fail a bracket matcher. Order does not matter; the count does.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RISTA. This is the canonical Sipser example, re-skinned. Say the plain-terms line last and let it land — it is the sentence people remember.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RAKSHA. A Turing machine has no call stack, so 'run the subroutine twice' had to become two copies of the state set wired end to end — the passing exit of PAIR-CHECK(N,S) is the entry state of PAIR-CHECK(E,W).</a:t>
            </a:r>
          </a:p>
          <a:p/>
          <a:p>
            <a:r>
              <a:t>Optional line: our machine is a decider, it always halts. The halting problem tells us not every Turing machine does. Our problem sits safely below that ceiling.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RAKSHA. The last bullet is the one to sell. We did not go looking for it — it fell out of the design, and it is a result the textbook states in the abstract and we can point at concretely.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MANISH. The middle bullet is the one an examiner cares about. It would have been much easier to write three Python counters and label them DFA, PDA and TM — and it would have proved nothing. Everything you see in the demo is a table lookup, a stack operation, or a head movement.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MANISH. The oracle principle is the part to emphasise: if you test a machine against itself you learn nothing. The oracle knows the answers but knows nothing about DFAs, stacks or tapes.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MANISH. We expected the arrangement of the letters to matter and it does not. Each cross-off costs about twice the position of the cell being marked, and an accepted walk crosses every cell exactly once, so the total is always the same sum. The harness was written expecting a spread of results and found a single line.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PRAMISH. Be straightforward about both defects — they are the most honest part of the talk and they show the process worked.</a:t>
            </a:r>
          </a:p>
          <a:p/>
          <a:p>
            <a:r>
              <a:t>The step-limit bug is the best story: no test had tried an input that large, so only the performance harness could have found it. That is the argument for measuring as well as testing.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PRAMISH. If time is short this is the slide to cut — but the unary-encoding point is the best original observation in the project, so try to keep at least the first bullet.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PRAMISH drives the keyboard, RISTA narrates.</a:t>
            </a:r>
          </a:p>
          <a:p/>
          <a:p>
            <a:r>
              <a:t>Run from week_5, terminal full screen, 120 columns minimum, light background, font 24-26px.</a:t>
            </a:r>
          </a:p>
          <a:p/>
          <a:p>
            <a:r>
              <a:t>  python3 main.py --tables       'these are real machines'</a:t>
            </a:r>
          </a:p>
          <a:p>
            <a:r>
              <a:t>  python3 main.py --pause        beats 1-5</a:t>
            </a:r>
          </a:p>
          <a:p>
            <a:r>
              <a:t>      NESW    all three accept — the baseline</a:t>
            </a:r>
          </a:p>
          <a:p>
            <a:r>
              <a:t>      NNE     tier 1 yes, tier 2 no — the DFA has nowhere to put it</a:t>
            </a:r>
          </a:p>
          <a:p>
            <a:r>
              <a:t>      NES     tier 1 yes, tier 2 YES, tier 3 no — the money beat</a:t>
            </a:r>
          </a:p>
          <a:p>
            <a:r>
              <a:t>      NS      tier 1 NO, tiers 2 and 3 yes — not nested</a:t>
            </a:r>
          </a:p>
          <a:p>
            <a:r>
              <a:t>      NEB     illegal symbol, all reject</a:t>
            </a:r>
          </a:p>
          <a:p>
            <a:r>
              <a:t>  python3 main.py NNEESSWW --full-tape --pause    the real tape</a:t>
            </a:r>
          </a:p>
          <a:p>
            <a:r>
              <a:t>  python3 main.py --demo         the 8 design walks, all passing</a:t>
            </a:r>
          </a:p>
          <a:p/>
          <a:p>
            <a:r>
              <a:t>Ask the room to predict on NES and NS only. Full run sheet: week_8/demo-script.md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Likely questions:</a:t>
            </a:r>
          </a:p>
          <a:p/>
          <a:p>
            <a:r>
              <a:t>• Why not one machine that answers all three? Because the point is which machine is *sufficient* for each question.</a:t>
            </a:r>
          </a:p>
          <a:p>
            <a:r>
              <a:t>• Is the CFG parser used to decide anything? No — the PDA decides; the parser prints a derivation as visible evidence that L(G2) = L2.</a:t>
            </a:r>
          </a:p>
          <a:p>
            <a:r>
              <a:t>• Could the TM be faster? Yes, a two-tape TM would be O(n). We kept single-tape because that is Sipser's model and the audience's.</a:t>
            </a:r>
          </a:p>
          <a:p>
            <a:r>
              <a:t>• Why not stop after a rejection? It would be three times faster on rejects and would destroy the product — seeing all three answers is the entire 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1874519"/>
            <a:ext cx="10515600" cy="1005840"/>
          </a:xfrm>
          <a:prstGeom prst="rect">
            <a:avLst/>
          </a:prstGeom>
          <a:noFill/>
        </p:spPr>
        <p:txBody>
          <a:bodyPr wrap="square">
            <a:spAutoFit/>
          </a:bodyPr>
          <a:lstStyle/>
          <a:p>
            <a:r>
              <a:rPr sz="4400" b="1" i="0">
                <a:solidFill>
                  <a:srgbClr val="1F3864"/>
                </a:solidFill>
                <a:latin typeface="Times New Roman"/>
              </a:rPr>
              <a:t>Robot Walk Recognizer</a:t>
            </a:r>
          </a:p>
        </p:txBody>
      </p:sp>
      <p:sp>
        <p:nvSpPr>
          <p:cNvPr id="3" name="TextBox 2"/>
          <p:cNvSpPr txBox="1"/>
          <p:nvPr/>
        </p:nvSpPr>
        <p:spPr>
          <a:xfrm>
            <a:off x="822960" y="2880360"/>
            <a:ext cx="10515600" cy="548640"/>
          </a:xfrm>
          <a:prstGeom prst="rect">
            <a:avLst/>
          </a:prstGeom>
          <a:noFill/>
        </p:spPr>
        <p:txBody>
          <a:bodyPr wrap="square">
            <a:spAutoFit/>
          </a:bodyPr>
          <a:lstStyle/>
          <a:p>
            <a:r>
              <a:rPr sz="2400" b="0" i="1">
                <a:solidFill>
                  <a:srgbClr val="1A1A1A"/>
                </a:solidFill>
                <a:latin typeface="Times New Roman"/>
              </a:rPr>
              <a:t>Did the robot make it back home?</a:t>
            </a:r>
          </a:p>
        </p:txBody>
      </p:sp>
      <p:sp>
        <p:nvSpPr>
          <p:cNvPr id="4" name="TextBox 3"/>
          <p:cNvSpPr txBox="1"/>
          <p:nvPr/>
        </p:nvSpPr>
        <p:spPr>
          <a:xfrm>
            <a:off x="822960" y="3520440"/>
            <a:ext cx="10515600" cy="457200"/>
          </a:xfrm>
          <a:prstGeom prst="rect">
            <a:avLst/>
          </a:prstGeom>
          <a:noFill/>
        </p:spPr>
        <p:txBody>
          <a:bodyPr wrap="square">
            <a:spAutoFit/>
          </a:bodyPr>
          <a:lstStyle/>
          <a:p>
            <a:r>
              <a:rPr sz="1700" b="0" i="0">
                <a:solidFill>
                  <a:srgbClr val="595959"/>
                </a:solidFill>
                <a:latin typeface="Times New Roman"/>
              </a:rPr>
              <a:t>One walk over </a:t>
            </a:r>
            <a:r>
              <a:rPr sz="1700" b="0" i="0">
                <a:solidFill>
                  <a:srgbClr val="595959"/>
                </a:solidFill>
                <a:latin typeface="Courier New"/>
              </a:rPr>
              <a:t>{N, S, E, W}</a:t>
            </a:r>
            <a:r>
              <a:rPr sz="1700" b="0" i="0">
                <a:solidFill>
                  <a:srgbClr val="595959"/>
                </a:solidFill>
                <a:latin typeface="Times New Roman"/>
              </a:rPr>
              <a:t>  ·  three machines  ·  three answers</a:t>
            </a:r>
          </a:p>
        </p:txBody>
      </p:sp>
      <p:sp>
        <p:nvSpPr>
          <p:cNvPr id="5" name="Rectangle 4"/>
          <p:cNvSpPr/>
          <p:nvPr/>
        </p:nvSpPr>
        <p:spPr>
          <a:xfrm>
            <a:off x="868680" y="4224528"/>
            <a:ext cx="3840480" cy="27432"/>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434840"/>
            <a:ext cx="10515600" cy="1371600"/>
          </a:xfrm>
          <a:prstGeom prst="rect">
            <a:avLst/>
          </a:prstGeom>
          <a:noFill/>
        </p:spPr>
        <p:txBody>
          <a:bodyPr wrap="square">
            <a:spAutoFit/>
          </a:bodyPr>
          <a:lstStyle/>
          <a:p>
            <a:pPr>
              <a:spcBef>
                <a:spcPts val="0"/>
              </a:spcBef>
            </a:pPr>
            <a:r>
              <a:rPr sz="1600" b="0" i="0">
                <a:solidFill>
                  <a:srgbClr val="1A1A1A"/>
                </a:solidFill>
                <a:latin typeface="Times New Roman"/>
              </a:rPr>
              <a:t>Pramish Sihali  ·  Rista Shrestha  ·  Raksha Shrestha  ·  Manish Yadav</a:t>
            </a:r>
          </a:p>
          <a:p>
            <a:pPr>
              <a:spcBef>
                <a:spcPts val="600"/>
              </a:spcBef>
            </a:pPr>
            <a:r>
              <a:rPr sz="1400" b="0" i="0">
                <a:solidFill>
                  <a:srgbClr val="595959"/>
                </a:solidFill>
                <a:latin typeface="Times New Roman"/>
              </a:rPr>
              <a:t>TECH 315: Models of Computation  ·  College of Technology and Engineering</a:t>
            </a:r>
          </a:p>
          <a:p>
            <a:pPr>
              <a:spcBef>
                <a:spcPts val="600"/>
              </a:spcBef>
            </a:pPr>
            <a:r>
              <a:rPr sz="1400" b="0" i="0">
                <a:solidFill>
                  <a:srgbClr val="595959"/>
                </a:solidFill>
                <a:latin typeface="Times New Roman"/>
              </a:rPr>
              <a:t>Westcliff University  ·  Instructor: Prof. Kunwar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094415" y="6291072"/>
            <a:ext cx="640080" cy="320040"/>
          </a:xfrm>
          <a:prstGeom prst="rect">
            <a:avLst/>
          </a:prstGeom>
          <a:noFill/>
        </p:spPr>
        <p:txBody>
          <a:bodyPr wrap="none">
            <a:spAutoFit/>
          </a:bodyPr>
          <a:lstStyle/>
          <a:p>
            <a:pPr algn="r"/>
            <a:r>
              <a:rPr sz="1100">
                <a:solidFill>
                  <a:srgbClr val="595959"/>
                </a:solidFill>
                <a:latin typeface="Times New Roman"/>
              </a:rPr>
              <a:t>2</a:t>
            </a:r>
          </a:p>
        </p:txBody>
      </p:sp>
      <p:sp>
        <p:nvSpPr>
          <p:cNvPr id="3" name="TextBox 2"/>
          <p:cNvSpPr txBox="1"/>
          <p:nvPr/>
        </p:nvSpPr>
        <p:spPr>
          <a:xfrm>
            <a:off x="566928" y="384048"/>
            <a:ext cx="11064240" cy="310896"/>
          </a:xfrm>
          <a:prstGeom prst="rect">
            <a:avLst/>
          </a:prstGeom>
          <a:noFill/>
        </p:spPr>
        <p:txBody>
          <a:bodyPr wrap="square">
            <a:spAutoFit/>
          </a:bodyPr>
          <a:lstStyle/>
          <a:p>
            <a:r>
              <a:rPr sz="1400" b="1" i="0">
                <a:solidFill>
                  <a:srgbClr val="595959"/>
                </a:solidFill>
                <a:latin typeface="Times New Roman"/>
              </a:rPr>
              <a:t>GOALS</a:t>
            </a:r>
          </a:p>
        </p:txBody>
      </p:sp>
      <p:sp>
        <p:nvSpPr>
          <p:cNvPr id="4" name="TextBox 3"/>
          <p:cNvSpPr txBox="1"/>
          <p:nvPr/>
        </p:nvSpPr>
        <p:spPr>
          <a:xfrm>
            <a:off x="566928" y="713232"/>
            <a:ext cx="11064240" cy="777240"/>
          </a:xfrm>
          <a:prstGeom prst="rect">
            <a:avLst/>
          </a:prstGeom>
          <a:noFill/>
        </p:spPr>
        <p:txBody>
          <a:bodyPr wrap="square">
            <a:spAutoFit/>
          </a:bodyPr>
          <a:lstStyle/>
          <a:p>
            <a:r>
              <a:rPr sz="3100" b="1" i="0">
                <a:solidFill>
                  <a:srgbClr val="1F3864"/>
                </a:solidFill>
                <a:latin typeface="Times New Roman"/>
              </a:rPr>
              <a:t>What we set out to build</a:t>
            </a:r>
          </a:p>
        </p:txBody>
      </p:sp>
      <p:sp>
        <p:nvSpPr>
          <p:cNvPr id="5" name="Rectangle 4"/>
          <p:cNvSpPr/>
          <p:nvPr/>
        </p:nvSpPr>
        <p:spPr>
          <a:xfrm>
            <a:off x="594360" y="1463040"/>
            <a:ext cx="11018520" cy="18288"/>
          </a:xfrm>
          <a:prstGeom prst="rect">
            <a:avLst/>
          </a:prstGeom>
          <a:solidFill>
            <a:srgbClr val="C0C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82496"/>
            <a:ext cx="10881360" cy="4535424"/>
          </a:xfrm>
          <a:prstGeom prst="rect">
            <a:avLst/>
          </a:prstGeom>
          <a:noFill/>
        </p:spPr>
        <p:txBody>
          <a:bodyPr wrap="square">
            <a:spAutoFit/>
          </a:bodyPr>
          <a:lstStyle/>
          <a:p>
            <a:pPr>
              <a:lnSpc>
                <a:spcPct val="100000"/>
              </a:lnSpc>
              <a:spcBef>
                <a:spcPts val="1000"/>
              </a:spcBef>
            </a:pPr>
            <a:r>
              <a:rPr sz="1900" b="0" i="0">
                <a:solidFill>
                  <a:srgbClr val="1A1A1A"/>
                </a:solidFill>
                <a:latin typeface="Times New Roman"/>
              </a:rPr>
              <a:t>A </a:t>
            </a:r>
            <a:r>
              <a:rPr sz="1900" b="1" i="0">
                <a:solidFill>
                  <a:srgbClr val="1A1A1A"/>
                </a:solidFill>
                <a:latin typeface="Times New Roman"/>
              </a:rPr>
              <a:t>language-recognition system</a:t>
            </a:r>
            <a:r>
              <a:rPr sz="1900" b="0" i="0">
                <a:solidFill>
                  <a:srgbClr val="1A1A1A"/>
                </a:solidFill>
                <a:latin typeface="Times New Roman"/>
              </a:rPr>
              <a:t>: hand it a string, it answers </a:t>
            </a:r>
            <a:r>
              <a:rPr sz="1900" b="1" i="0">
                <a:solidFill>
                  <a:srgbClr val="1A1A1A"/>
                </a:solidFill>
                <a:latin typeface="Times New Roman"/>
              </a:rPr>
              <a:t>accept or reject</a:t>
            </a:r>
            <a:r>
              <a:rPr sz="1900" b="0" i="0">
                <a:solidFill>
                  <a:srgbClr val="1A1A1A"/>
                </a:solidFill>
                <a:latin typeface="Times New Roman"/>
              </a:rPr>
              <a:t>.</a:t>
            </a:r>
          </a:p>
          <a:p>
            <a:pPr>
              <a:lnSpc>
                <a:spcPct val="100000"/>
              </a:lnSpc>
              <a:spcBef>
                <a:spcPts val="1000"/>
              </a:spcBef>
            </a:pPr>
            <a:r>
              <a:rPr sz="1900" b="0" i="0">
                <a:solidFill>
                  <a:srgbClr val="1A1A1A"/>
                </a:solidFill>
                <a:latin typeface="Times New Roman"/>
              </a:rPr>
              <a:t>One that integrates </a:t>
            </a:r>
            <a:r>
              <a:rPr sz="1900" b="1" i="0">
                <a:solidFill>
                  <a:srgbClr val="1A1A1A"/>
                </a:solidFill>
                <a:latin typeface="Times New Roman"/>
              </a:rPr>
              <a:t>all three models</a:t>
            </a:r>
            <a:r>
              <a:rPr sz="1900" b="0" i="0">
                <a:solidFill>
                  <a:srgbClr val="1A1A1A"/>
                </a:solidFill>
                <a:latin typeface="Times New Roman"/>
              </a:rPr>
              <a:t> from the course — a finite automaton, a context-free grammar with its pushdown automaton, and a Turing machine.</a:t>
            </a:r>
          </a:p>
          <a:p>
            <a:pPr>
              <a:lnSpc>
                <a:spcPct val="100000"/>
              </a:lnSpc>
              <a:spcBef>
                <a:spcPts val="1000"/>
              </a:spcBef>
            </a:pPr>
            <a:r>
              <a:rPr sz="1900" b="1" i="0">
                <a:solidFill>
                  <a:srgbClr val="1A1A1A"/>
                </a:solidFill>
                <a:latin typeface="Times New Roman"/>
              </a:rPr>
              <a:t>One problem, one alphabet, three escalating questions</a:t>
            </a:r>
            <a:r>
              <a:rPr sz="1900" b="0" i="0">
                <a:solidFill>
                  <a:srgbClr val="1A1A1A"/>
                </a:solidFill>
                <a:latin typeface="Times New Roman"/>
              </a:rPr>
              <a:t> — so the three models can be compared directly instead of being three unrelated demos.</a:t>
            </a:r>
          </a:p>
          <a:p>
            <a:pPr>
              <a:lnSpc>
                <a:spcPct val="100000"/>
              </a:lnSpc>
              <a:spcBef>
                <a:spcPts val="1000"/>
              </a:spcBef>
            </a:pPr>
            <a:r>
              <a:rPr sz="1900" b="0" i="0">
                <a:solidFill>
                  <a:srgbClr val="1A1A1A"/>
                </a:solidFill>
                <a:latin typeface="Times New Roman"/>
              </a:rPr>
              <a:t>The rule we set ourselves: </a:t>
            </a:r>
            <a:r>
              <a:rPr sz="1900" b="1" i="0">
                <a:solidFill>
                  <a:srgbClr val="1A1A1A"/>
                </a:solidFill>
                <a:latin typeface="Times New Roman"/>
              </a:rPr>
              <a:t>the audience must be able to check every answer by eye</a:t>
            </a:r>
            <a:r>
              <a:rPr sz="1900" b="0" i="0">
                <a:solidFill>
                  <a:srgbClr val="1A1A1A"/>
                </a:solidFill>
                <a:latin typeface="Times New Roman"/>
              </a:rPr>
              <a:t>, with no specialist knowledge.</a:t>
            </a:r>
          </a:p>
          <a:p>
            <a:pPr lvl="1">
              <a:lnSpc>
                <a:spcPct val="100000"/>
              </a:lnSpc>
              <a:spcBef>
                <a:spcPts val="400"/>
              </a:spcBef>
            </a:pPr>
            <a:r>
              <a:rPr sz="1700" b="0" i="0">
                <a:solidFill>
                  <a:srgbClr val="595959"/>
                </a:solidFill>
                <a:latin typeface="Times New Roman"/>
              </a:rPr>
              <a:t>That last rule is what ruled out an arithmetic-expression validator (it reads as a calculator) and a music-notation checker (it needs music literacy).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094415" y="6291072"/>
            <a:ext cx="640080" cy="320040"/>
          </a:xfrm>
          <a:prstGeom prst="rect">
            <a:avLst/>
          </a:prstGeom>
          <a:noFill/>
        </p:spPr>
        <p:txBody>
          <a:bodyPr wrap="none">
            <a:spAutoFit/>
          </a:bodyPr>
          <a:lstStyle/>
          <a:p>
            <a:pPr algn="r"/>
            <a:r>
              <a:rPr sz="1100">
                <a:solidFill>
                  <a:srgbClr val="595959"/>
                </a:solidFill>
                <a:latin typeface="Times New Roman"/>
              </a:rPr>
              <a:t>3</a:t>
            </a:r>
          </a:p>
        </p:txBody>
      </p:sp>
      <p:sp>
        <p:nvSpPr>
          <p:cNvPr id="3" name="TextBox 2"/>
          <p:cNvSpPr txBox="1"/>
          <p:nvPr/>
        </p:nvSpPr>
        <p:spPr>
          <a:xfrm>
            <a:off x="566928" y="384048"/>
            <a:ext cx="11064240" cy="310896"/>
          </a:xfrm>
          <a:prstGeom prst="rect">
            <a:avLst/>
          </a:prstGeom>
          <a:noFill/>
        </p:spPr>
        <p:txBody>
          <a:bodyPr wrap="square">
            <a:spAutoFit/>
          </a:bodyPr>
          <a:lstStyle/>
          <a:p>
            <a:r>
              <a:rPr sz="1400" b="1" i="0">
                <a:solidFill>
                  <a:srgbClr val="595959"/>
                </a:solidFill>
                <a:latin typeface="Times New Roman"/>
              </a:rPr>
              <a:t>THE PROBLEM</a:t>
            </a:r>
          </a:p>
        </p:txBody>
      </p:sp>
      <p:sp>
        <p:nvSpPr>
          <p:cNvPr id="4" name="TextBox 3"/>
          <p:cNvSpPr txBox="1"/>
          <p:nvPr/>
        </p:nvSpPr>
        <p:spPr>
          <a:xfrm>
            <a:off x="566928" y="713232"/>
            <a:ext cx="11064240" cy="777240"/>
          </a:xfrm>
          <a:prstGeom prst="rect">
            <a:avLst/>
          </a:prstGeom>
          <a:noFill/>
        </p:spPr>
        <p:txBody>
          <a:bodyPr wrap="square">
            <a:spAutoFit/>
          </a:bodyPr>
          <a:lstStyle/>
          <a:p>
            <a:r>
              <a:rPr sz="3100" b="1" i="0">
                <a:solidFill>
                  <a:srgbClr val="1F3864"/>
                </a:solidFill>
                <a:latin typeface="Times New Roman"/>
              </a:rPr>
              <a:t>One walk, written down</a:t>
            </a:r>
          </a:p>
        </p:txBody>
      </p:sp>
      <p:sp>
        <p:nvSpPr>
          <p:cNvPr id="5" name="Rectangle 4"/>
          <p:cNvSpPr/>
          <p:nvPr/>
        </p:nvSpPr>
        <p:spPr>
          <a:xfrm>
            <a:off x="594360" y="1463040"/>
            <a:ext cx="11018520" cy="18288"/>
          </a:xfrm>
          <a:prstGeom prst="rect">
            <a:avLst/>
          </a:prstGeom>
          <a:solidFill>
            <a:srgbClr val="C0C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82496"/>
            <a:ext cx="10881360" cy="4535424"/>
          </a:xfrm>
          <a:prstGeom prst="rect">
            <a:avLst/>
          </a:prstGeom>
          <a:noFill/>
        </p:spPr>
        <p:txBody>
          <a:bodyPr wrap="square">
            <a:spAutoFit/>
          </a:bodyPr>
          <a:lstStyle/>
          <a:p>
            <a:pPr>
              <a:lnSpc>
                <a:spcPct val="100000"/>
              </a:lnSpc>
              <a:spcBef>
                <a:spcPts val="1000"/>
              </a:spcBef>
            </a:pPr>
            <a:r>
              <a:rPr sz="1900" b="0" i="0">
                <a:solidFill>
                  <a:srgbClr val="1A1A1A"/>
                </a:solidFill>
                <a:latin typeface="Times New Roman"/>
              </a:rPr>
              <a:t>Input is a single walk over the alphabet Σ = </a:t>
            </a:r>
            <a:r>
              <a:rPr sz="1900" b="1" i="0">
                <a:solidFill>
                  <a:srgbClr val="1A1A1A"/>
                </a:solidFill>
                <a:latin typeface="Times New Roman"/>
              </a:rPr>
              <a:t>{N, S, E, W}</a:t>
            </a:r>
            <a:r>
              <a:rPr sz="1900" b="0" i="0">
                <a:solidFill>
                  <a:srgbClr val="1A1A1A"/>
                </a:solidFill>
                <a:latin typeface="Times New Roman"/>
              </a:rPr>
              <a:t>. One symbol is one unit step — north, south, east or west.</a:t>
            </a:r>
          </a:p>
          <a:p>
            <a:pPr>
              <a:lnSpc>
                <a:spcPct val="100000"/>
              </a:lnSpc>
              <a:spcBef>
                <a:spcPts val="1000"/>
              </a:spcBef>
            </a:pPr>
            <a:r>
              <a:rPr sz="1900" b="0" i="0">
                <a:solidFill>
                  <a:srgbClr val="1A1A1A"/>
                </a:solidFill>
                <a:latin typeface="Courier New"/>
              </a:rPr>
              <a:t> NNESSW</a:t>
            </a:r>
            <a:r>
              <a:rPr sz="1900" b="1" i="0">
                <a:solidFill>
                  <a:srgbClr val="1A1A1A"/>
                </a:solidFill>
                <a:latin typeface="Times New Roman"/>
              </a:rPr>
              <a:t>  =  north, north, east, south, south, west</a:t>
            </a:r>
          </a:p>
        </p:txBody>
      </p:sp>
      <p:sp>
        <p:nvSpPr>
          <p:cNvPr id="7" name="Rectangle 6"/>
          <p:cNvSpPr/>
          <p:nvPr/>
        </p:nvSpPr>
        <p:spPr>
          <a:xfrm>
            <a:off x="685800" y="3163824"/>
            <a:ext cx="3200400" cy="2148840"/>
          </a:xfrm>
          <a:prstGeom prst="rect">
            <a:avLst/>
          </a:prstGeom>
          <a:solidFill>
            <a:srgbClr val="F2F4F8"/>
          </a:solidFill>
          <a:ln w="9525">
            <a:solidFill>
              <a:srgbClr val="C0C8D4"/>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lnSpc>
                <a:spcPct val="100000"/>
              </a:lnSpc>
            </a:pPr>
            <a:r>
              <a:rPr sz="1400" b="0" i="0">
                <a:solidFill>
                  <a:srgbClr val="1A1A1A"/>
                </a:solidFill>
                <a:latin typeface="Courier New"/>
              </a:rPr>
              <a:t>    * *</a:t>
            </a:r>
          </a:p>
          <a:p>
            <a:pPr algn="l">
              <a:lnSpc>
                <a:spcPct val="100000"/>
              </a:lnSpc>
            </a:pPr>
            <a:r>
              <a:rPr sz="1400" b="0" i="0">
                <a:solidFill>
                  <a:srgbClr val="1A1A1A"/>
                </a:solidFill>
                <a:latin typeface="Courier New"/>
              </a:rPr>
              <a:t>    * *</a:t>
            </a:r>
          </a:p>
          <a:p>
            <a:pPr algn="l">
              <a:lnSpc>
                <a:spcPct val="100000"/>
              </a:lnSpc>
            </a:pPr>
            <a:r>
              <a:rPr sz="1400" b="0" i="0">
                <a:solidFill>
                  <a:srgbClr val="1A1A1A"/>
                </a:solidFill>
                <a:latin typeface="Courier New"/>
              </a:rPr>
              <a:t>    H *</a:t>
            </a:r>
          </a:p>
          <a:p>
            <a:pPr algn="l">
              <a:lnSpc>
                <a:spcPct val="100000"/>
              </a:lnSpc>
            </a:pPr>
            <a:r>
              <a:rPr sz="1400" b="0" i="0">
                <a:solidFill>
                  <a:srgbClr val="1A1A1A"/>
                </a:solidFill>
                <a:latin typeface="Courier New"/>
              </a:rPr>
              <a:t/>
            </a:r>
          </a:p>
          <a:p>
            <a:pPr algn="l">
              <a:lnSpc>
                <a:spcPct val="100000"/>
              </a:lnSpc>
            </a:pPr>
            <a:r>
              <a:rPr sz="1400" b="0" i="0">
                <a:solidFill>
                  <a:srgbClr val="1A1A1A"/>
                </a:solidFill>
                <a:latin typeface="Courier New"/>
              </a:rPr>
              <a:t>H = home</a:t>
            </a:r>
          </a:p>
          <a:p>
            <a:pPr algn="l">
              <a:lnSpc>
                <a:spcPct val="100000"/>
              </a:lnSpc>
            </a:pPr>
            <a:r>
              <a:rPr sz="1400" b="0" i="0">
                <a:solidFill>
                  <a:srgbClr val="1A1A1A"/>
                </a:solidFill>
                <a:latin typeface="Courier New"/>
              </a:rPr>
              <a:t>* = passed through</a:t>
            </a:r>
          </a:p>
        </p:txBody>
      </p:sp>
      <p:sp>
        <p:nvSpPr>
          <p:cNvPr id="8" name="TextBox 7"/>
          <p:cNvSpPr txBox="1"/>
          <p:nvPr/>
        </p:nvSpPr>
        <p:spPr>
          <a:xfrm>
            <a:off x="4206240" y="3255264"/>
            <a:ext cx="7315200" cy="2103120"/>
          </a:xfrm>
          <a:prstGeom prst="rect">
            <a:avLst/>
          </a:prstGeom>
          <a:noFill/>
        </p:spPr>
        <p:txBody>
          <a:bodyPr wrap="square">
            <a:spAutoFit/>
          </a:bodyPr>
          <a:lstStyle/>
          <a:p>
            <a:pPr>
              <a:lnSpc>
                <a:spcPct val="100000"/>
              </a:lnSpc>
              <a:spcBef>
                <a:spcPts val="0"/>
              </a:spcBef>
            </a:pPr>
            <a:r>
              <a:rPr sz="1800" b="0" i="0">
                <a:solidFill>
                  <a:srgbClr val="1A1A1A"/>
                </a:solidFill>
                <a:latin typeface="Times New Roman"/>
              </a:rPr>
              <a:t>Every question we ask is a </a:t>
            </a:r>
            <a:r>
              <a:rPr sz="1800" b="1" i="0">
                <a:solidFill>
                  <a:srgbClr val="1A1A1A"/>
                </a:solidFill>
                <a:latin typeface="Times New Roman"/>
              </a:rPr>
              <a:t>yes/no question about this string</a:t>
            </a:r>
            <a:r>
              <a:rPr sz="1800" b="0" i="0">
                <a:solidFill>
                  <a:srgbClr val="1A1A1A"/>
                </a:solidFill>
                <a:latin typeface="Times New Roman"/>
              </a:rPr>
              <a:t>.</a:t>
            </a:r>
          </a:p>
          <a:p>
            <a:pPr>
              <a:lnSpc>
                <a:spcPct val="100000"/>
              </a:lnSpc>
              <a:spcBef>
                <a:spcPts val="1200"/>
              </a:spcBef>
            </a:pPr>
            <a:r>
              <a:rPr sz="1800" b="0" i="0">
                <a:solidFill>
                  <a:srgbClr val="1A1A1A"/>
                </a:solidFill>
                <a:latin typeface="Times New Roman"/>
              </a:rPr>
              <a:t>That is exactly what a language-recognition problem is: is this string in the language, or not?</a:t>
            </a:r>
          </a:p>
          <a:p>
            <a:pPr>
              <a:lnSpc>
                <a:spcPct val="100000"/>
              </a:lnSpc>
              <a:spcBef>
                <a:spcPts val="1200"/>
              </a:spcBef>
            </a:pPr>
            <a:r>
              <a:rPr sz="1800" b="0" i="0">
                <a:solidFill>
                  <a:srgbClr val="1A1A1A"/>
                </a:solidFill>
                <a:latin typeface="Times New Roman"/>
              </a:rPr>
              <a:t>And because the walk can be drawn, </a:t>
            </a:r>
            <a:r>
              <a:rPr sz="1800" b="1" i="0">
                <a:solidFill>
                  <a:srgbClr val="1A1A1A"/>
                </a:solidFill>
                <a:latin typeface="Times New Roman"/>
              </a:rPr>
              <a:t>anyone in this room can check our answers</a:t>
            </a:r>
            <a:r>
              <a:rPr sz="1800" b="0" i="0">
                <a:solidFill>
                  <a:srgbClr val="1A1A1A"/>
                </a:solidFill>
                <a:latin typeface="Times New Roman"/>
              </a:rP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094415" y="6291072"/>
            <a:ext cx="640080" cy="320040"/>
          </a:xfrm>
          <a:prstGeom prst="rect">
            <a:avLst/>
          </a:prstGeom>
          <a:noFill/>
        </p:spPr>
        <p:txBody>
          <a:bodyPr wrap="none">
            <a:spAutoFit/>
          </a:bodyPr>
          <a:lstStyle/>
          <a:p>
            <a:pPr algn="r"/>
            <a:r>
              <a:rPr sz="1100">
                <a:solidFill>
                  <a:srgbClr val="595959"/>
                </a:solidFill>
                <a:latin typeface="Times New Roman"/>
              </a:rPr>
              <a:t>4</a:t>
            </a:r>
          </a:p>
        </p:txBody>
      </p:sp>
      <p:sp>
        <p:nvSpPr>
          <p:cNvPr id="3" name="TextBox 2"/>
          <p:cNvSpPr txBox="1"/>
          <p:nvPr/>
        </p:nvSpPr>
        <p:spPr>
          <a:xfrm>
            <a:off x="566928" y="384048"/>
            <a:ext cx="11064240" cy="310896"/>
          </a:xfrm>
          <a:prstGeom prst="rect">
            <a:avLst/>
          </a:prstGeom>
          <a:noFill/>
        </p:spPr>
        <p:txBody>
          <a:bodyPr wrap="square">
            <a:spAutoFit/>
          </a:bodyPr>
          <a:lstStyle/>
          <a:p>
            <a:r>
              <a:rPr sz="1400" b="1" i="0">
                <a:solidFill>
                  <a:srgbClr val="595959"/>
                </a:solidFill>
                <a:latin typeface="Times New Roman"/>
              </a:rPr>
              <a:t>DESIGN</a:t>
            </a:r>
          </a:p>
        </p:txBody>
      </p:sp>
      <p:sp>
        <p:nvSpPr>
          <p:cNvPr id="4" name="TextBox 3"/>
          <p:cNvSpPr txBox="1"/>
          <p:nvPr/>
        </p:nvSpPr>
        <p:spPr>
          <a:xfrm>
            <a:off x="566928" y="713232"/>
            <a:ext cx="11064240" cy="777240"/>
          </a:xfrm>
          <a:prstGeom prst="rect">
            <a:avLst/>
          </a:prstGeom>
          <a:noFill/>
        </p:spPr>
        <p:txBody>
          <a:bodyPr wrap="square">
            <a:spAutoFit/>
          </a:bodyPr>
          <a:lstStyle/>
          <a:p>
            <a:r>
              <a:rPr sz="3100" b="1" i="0">
                <a:solidFill>
                  <a:srgbClr val="1F3864"/>
                </a:solidFill>
                <a:latin typeface="Times New Roman"/>
              </a:rPr>
              <a:t>Three questions, three machines</a:t>
            </a:r>
          </a:p>
        </p:txBody>
      </p:sp>
      <p:sp>
        <p:nvSpPr>
          <p:cNvPr id="5" name="Rectangle 4"/>
          <p:cNvSpPr/>
          <p:nvPr/>
        </p:nvSpPr>
        <p:spPr>
          <a:xfrm>
            <a:off x="594360" y="1463040"/>
            <a:ext cx="11018520" cy="18288"/>
          </a:xfrm>
          <a:prstGeom prst="rect">
            <a:avLst/>
          </a:prstGeom>
          <a:solidFill>
            <a:srgbClr val="C0C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685800" y="1728216"/>
          <a:ext cx="10789919" cy="1591056"/>
        </p:xfrm>
        <a:graphic>
          <a:graphicData uri="http://schemas.openxmlformats.org/drawingml/2006/table">
            <a:tbl>
              <a:tblPr firstRow="1" bandRow="1">
                <a:tableStyleId>{5C22544A-7EE6-4342-B048-85BDC9FD1C3A}</a:tableStyleId>
              </a:tblPr>
              <a:tblGrid>
                <a:gridCol w="566928"/>
                <a:gridCol w="1417320"/>
                <a:gridCol w="3310128"/>
                <a:gridCol w="1783080"/>
                <a:gridCol w="3712463"/>
              </a:tblGrid>
              <a:tr h="397764">
                <a:tc>
                  <a:txBody>
                    <a:bodyPr/>
                    <a:lstStyle/>
                    <a:p>
                      <a:r>
                        <a:rPr sz="1400" b="1" i="0">
                          <a:solidFill>
                            <a:srgbClr val="FFFFFF"/>
                          </a:solidFill>
                          <a:latin typeface="Times New Roman"/>
                        </a:rPr>
                        <a:t>Tier</a:t>
                      </a:r>
                    </a:p>
                  </a:txBody>
                  <a:tcPr anchor="ctr">
                    <a:solidFill>
                      <a:srgbClr val="1F3864"/>
                    </a:solidFill>
                  </a:tcPr>
                </a:tc>
                <a:tc>
                  <a:txBody>
                    <a:bodyPr/>
                    <a:lstStyle/>
                    <a:p>
                      <a:r>
                        <a:rPr sz="1400" b="1" i="0">
                          <a:solidFill>
                            <a:srgbClr val="FFFFFF"/>
                          </a:solidFill>
                          <a:latin typeface="Times New Roman"/>
                        </a:rPr>
                        <a:t>Machine</a:t>
                      </a:r>
                    </a:p>
                  </a:txBody>
                  <a:tcPr anchor="ctr">
                    <a:solidFill>
                      <a:srgbClr val="1F3864"/>
                    </a:solidFill>
                  </a:tcPr>
                </a:tc>
                <a:tc>
                  <a:txBody>
                    <a:bodyPr/>
                    <a:lstStyle/>
                    <a:p>
                      <a:r>
                        <a:rPr sz="1400" b="1" i="0">
                          <a:solidFill>
                            <a:srgbClr val="FFFFFF"/>
                          </a:solidFill>
                          <a:latin typeface="Times New Roman"/>
                        </a:rPr>
                        <a:t>The question</a:t>
                      </a:r>
                    </a:p>
                  </a:txBody>
                  <a:tcPr anchor="ctr">
                    <a:solidFill>
                      <a:srgbClr val="1F3864"/>
                    </a:solidFill>
                  </a:tcPr>
                </a:tc>
                <a:tc>
                  <a:txBody>
                    <a:bodyPr/>
                    <a:lstStyle/>
                    <a:p>
                      <a:r>
                        <a:rPr sz="1400" b="1" i="0">
                          <a:solidFill>
                            <a:srgbClr val="FFFFFF"/>
                          </a:solidFill>
                          <a:latin typeface="Times New Roman"/>
                        </a:rPr>
                        <a:t>Language</a:t>
                      </a:r>
                    </a:p>
                  </a:txBody>
                  <a:tcPr anchor="ctr">
                    <a:solidFill>
                      <a:srgbClr val="1F3864"/>
                    </a:solidFill>
                  </a:tcPr>
                </a:tc>
                <a:tc>
                  <a:txBody>
                    <a:bodyPr/>
                    <a:lstStyle/>
                    <a:p>
                      <a:r>
                        <a:rPr sz="1400" b="1" i="0">
                          <a:solidFill>
                            <a:srgbClr val="FFFFFF"/>
                          </a:solidFill>
                          <a:latin typeface="Times New Roman"/>
                        </a:rPr>
                        <a:t>In plain terms</a:t>
                      </a:r>
                    </a:p>
                  </a:txBody>
                  <a:tcPr anchor="ctr">
                    <a:solidFill>
                      <a:srgbClr val="1F3864"/>
                    </a:solidFill>
                  </a:tcPr>
                </a:tc>
              </a:tr>
              <a:tr h="397764">
                <a:tc>
                  <a:txBody>
                    <a:bodyPr/>
                    <a:lstStyle/>
                    <a:p>
                      <a:r>
                        <a:rPr sz="1300" b="0" i="0">
                          <a:solidFill>
                            <a:srgbClr val="1A1A1A"/>
                          </a:solidFill>
                          <a:latin typeface="Times New Roman"/>
                        </a:rPr>
                        <a:t>1</a:t>
                      </a:r>
                    </a:p>
                  </a:txBody>
                  <a:tcPr anchor="ctr">
                    <a:solidFill>
                      <a:srgbClr val="FFFFFF"/>
                    </a:solidFill>
                  </a:tcPr>
                </a:tc>
                <a:tc>
                  <a:txBody>
                    <a:bodyPr/>
                    <a:lstStyle/>
                    <a:p>
                      <a:r>
                        <a:rPr sz="1300" b="0" i="0">
                          <a:solidFill>
                            <a:srgbClr val="1A1A1A"/>
                          </a:solidFill>
                          <a:latin typeface="Times New Roman"/>
                        </a:rPr>
                        <a:t>DFA  M1</a:t>
                      </a:r>
                    </a:p>
                  </a:txBody>
                  <a:tcPr anchor="ctr">
                    <a:solidFill>
                      <a:srgbClr val="FFFFFF"/>
                    </a:solidFill>
                  </a:tcPr>
                </a:tc>
                <a:tc>
                  <a:txBody>
                    <a:bodyPr/>
                    <a:lstStyle/>
                    <a:p>
                      <a:r>
                        <a:rPr sz="1300" b="0" i="0">
                          <a:solidFill>
                            <a:srgbClr val="1A1A1A"/>
                          </a:solidFill>
                          <a:latin typeface="Times New Roman"/>
                        </a:rPr>
                        <a:t>Did it ever immediately undo a move?</a:t>
                      </a:r>
                    </a:p>
                  </a:txBody>
                  <a:tcPr anchor="ctr">
                    <a:solidFill>
                      <a:srgbClr val="FFFFFF"/>
                    </a:solidFill>
                  </a:tcPr>
                </a:tc>
                <a:tc>
                  <a:txBody>
                    <a:bodyPr/>
                    <a:lstStyle/>
                    <a:p>
                      <a:r>
                        <a:rPr sz="1300" b="0" i="0">
                          <a:solidFill>
                            <a:srgbClr val="1A1A1A"/>
                          </a:solidFill>
                          <a:latin typeface="Courier New"/>
                        </a:rPr>
                        <a:t>no NS, SN,
 EW or WE</a:t>
                      </a:r>
                    </a:p>
                  </a:txBody>
                  <a:tcPr anchor="ctr">
                    <a:solidFill>
                      <a:srgbClr val="FFFFFF"/>
                    </a:solidFill>
                  </a:tcPr>
                </a:tc>
                <a:tc>
                  <a:txBody>
                    <a:bodyPr/>
                    <a:lstStyle/>
                    <a:p>
                      <a:r>
                        <a:rPr sz="1300" b="0" i="0">
                          <a:solidFill>
                            <a:srgbClr val="1A1A1A"/>
                          </a:solidFill>
                          <a:latin typeface="Times New Roman"/>
                        </a:rPr>
                        <a:t>a goldfish — it remembers
only the last move</a:t>
                      </a:r>
                    </a:p>
                  </a:txBody>
                  <a:tcPr anchor="ctr">
                    <a:solidFill>
                      <a:srgbClr val="FFFFFF"/>
                    </a:solidFill>
                  </a:tcPr>
                </a:tc>
              </a:tr>
              <a:tr h="397764">
                <a:tc>
                  <a:txBody>
                    <a:bodyPr/>
                    <a:lstStyle/>
                    <a:p>
                      <a:r>
                        <a:rPr sz="1300" b="0" i="0">
                          <a:solidFill>
                            <a:srgbClr val="1A1A1A"/>
                          </a:solidFill>
                          <a:latin typeface="Times New Roman"/>
                        </a:rPr>
                        <a:t>2</a:t>
                      </a:r>
                    </a:p>
                  </a:txBody>
                  <a:tcPr anchor="ctr">
                    <a:solidFill>
                      <a:srgbClr val="F2F4F8"/>
                    </a:solidFill>
                  </a:tcPr>
                </a:tc>
                <a:tc>
                  <a:txBody>
                    <a:bodyPr/>
                    <a:lstStyle/>
                    <a:p>
                      <a:r>
                        <a:rPr sz="1300" b="0" i="0">
                          <a:solidFill>
                            <a:srgbClr val="1A1A1A"/>
                          </a:solidFill>
                          <a:latin typeface="Times New Roman"/>
                        </a:rPr>
                        <a:t>PDA  P2
+ CFG  G2</a:t>
                      </a:r>
                    </a:p>
                  </a:txBody>
                  <a:tcPr anchor="ctr">
                    <a:solidFill>
                      <a:srgbClr val="F2F4F8"/>
                    </a:solidFill>
                  </a:tcPr>
                </a:tc>
                <a:tc>
                  <a:txBody>
                    <a:bodyPr/>
                    <a:lstStyle/>
                    <a:p>
                      <a:r>
                        <a:rPr sz="1300" b="0" i="0">
                          <a:solidFill>
                            <a:srgbClr val="1A1A1A"/>
                          </a:solidFill>
                          <a:latin typeface="Times New Roman"/>
                        </a:rPr>
                        <a:t>Did it end on its starting row?</a:t>
                      </a:r>
                    </a:p>
                  </a:txBody>
                  <a:tcPr anchor="ctr">
                    <a:solidFill>
                      <a:srgbClr val="F2F4F8"/>
                    </a:solidFill>
                  </a:tcPr>
                </a:tc>
                <a:tc>
                  <a:txBody>
                    <a:bodyPr/>
                    <a:lstStyle/>
                    <a:p>
                      <a:r>
                        <a:rPr sz="1300" b="0" i="0">
                          <a:solidFill>
                            <a:srgbClr val="1A1A1A"/>
                          </a:solidFill>
                          <a:latin typeface="Courier New"/>
                        </a:rPr>
                        <a:t>#N = #S</a:t>
                      </a:r>
                    </a:p>
                  </a:txBody>
                  <a:tcPr anchor="ctr">
                    <a:solidFill>
                      <a:srgbClr val="F2F4F8"/>
                    </a:solidFill>
                  </a:tcPr>
                </a:tc>
                <a:tc>
                  <a:txBody>
                    <a:bodyPr/>
                    <a:lstStyle/>
                    <a:p>
                      <a:r>
                        <a:rPr sz="1300" b="0" i="0">
                          <a:solidFill>
                            <a:srgbClr val="1A1A1A"/>
                          </a:solidFill>
                          <a:latin typeface="Times New Roman"/>
                        </a:rPr>
                        <a:t>a stack of sticky notes —
one note per north step</a:t>
                      </a:r>
                    </a:p>
                  </a:txBody>
                  <a:tcPr anchor="ctr">
                    <a:solidFill>
                      <a:srgbClr val="F2F4F8"/>
                    </a:solidFill>
                  </a:tcPr>
                </a:tc>
              </a:tr>
              <a:tr h="397764">
                <a:tc>
                  <a:txBody>
                    <a:bodyPr/>
                    <a:lstStyle/>
                    <a:p>
                      <a:r>
                        <a:rPr sz="1300" b="0" i="0">
                          <a:solidFill>
                            <a:srgbClr val="1A1A1A"/>
                          </a:solidFill>
                          <a:latin typeface="Times New Roman"/>
                        </a:rPr>
                        <a:t>3</a:t>
                      </a:r>
                    </a:p>
                  </a:txBody>
                  <a:tcPr anchor="ctr">
                    <a:solidFill>
                      <a:srgbClr val="FFFFFF"/>
                    </a:solidFill>
                  </a:tcPr>
                </a:tc>
                <a:tc>
                  <a:txBody>
                    <a:bodyPr/>
                    <a:lstStyle/>
                    <a:p>
                      <a:r>
                        <a:rPr sz="1300" b="0" i="0">
                          <a:solidFill>
                            <a:srgbClr val="1A1A1A"/>
                          </a:solidFill>
                          <a:latin typeface="Times New Roman"/>
                        </a:rPr>
                        <a:t>TM  M3</a:t>
                      </a:r>
                    </a:p>
                  </a:txBody>
                  <a:tcPr anchor="ctr">
                    <a:solidFill>
                      <a:srgbClr val="FFFFFF"/>
                    </a:solidFill>
                  </a:tcPr>
                </a:tc>
                <a:tc>
                  <a:txBody>
                    <a:bodyPr/>
                    <a:lstStyle/>
                    <a:p>
                      <a:r>
                        <a:rPr sz="1300" b="0" i="0">
                          <a:solidFill>
                            <a:srgbClr val="1A1A1A"/>
                          </a:solidFill>
                          <a:latin typeface="Times New Roman"/>
                        </a:rPr>
                        <a:t>Did it end exactly back home?</a:t>
                      </a:r>
                    </a:p>
                  </a:txBody>
                  <a:tcPr anchor="ctr">
                    <a:solidFill>
                      <a:srgbClr val="FFFFFF"/>
                    </a:solidFill>
                  </a:tcPr>
                </a:tc>
                <a:tc>
                  <a:txBody>
                    <a:bodyPr/>
                    <a:lstStyle/>
                    <a:p>
                      <a:r>
                        <a:rPr sz="1300" b="0" i="0">
                          <a:solidFill>
                            <a:srgbClr val="1A1A1A"/>
                          </a:solidFill>
                          <a:latin typeface="Courier New"/>
                        </a:rPr>
                        <a:t>#N = #S and
 #E = #W</a:t>
                      </a:r>
                    </a:p>
                  </a:txBody>
                  <a:tcPr anchor="ctr">
                    <a:solidFill>
                      <a:srgbClr val="FFFFFF"/>
                    </a:solidFill>
                  </a:tcPr>
                </a:tc>
                <a:tc>
                  <a:txBody>
                    <a:bodyPr/>
                    <a:lstStyle/>
                    <a:p>
                      <a:r>
                        <a:rPr sz="1300" b="0" i="0">
                          <a:solidFill>
                            <a:srgbClr val="1A1A1A"/>
                          </a:solidFill>
                          <a:latin typeface="Times New Roman"/>
                        </a:rPr>
                        <a:t>a notebook — crossing off
pairs on a paper strip</a:t>
                      </a:r>
                    </a:p>
                  </a:txBody>
                  <a:tcPr anchor="ctr">
                    <a:solidFill>
                      <a:srgbClr val="FFFFFF"/>
                    </a:solidFill>
                  </a:tcPr>
                </a:tc>
              </a:tr>
            </a:tbl>
          </a:graphicData>
        </a:graphic>
      </p:graphicFrame>
      <p:sp>
        <p:nvSpPr>
          <p:cNvPr id="7" name="TextBox 6"/>
          <p:cNvSpPr txBox="1"/>
          <p:nvPr/>
        </p:nvSpPr>
        <p:spPr>
          <a:xfrm>
            <a:off x="685800" y="3831336"/>
            <a:ext cx="10881360" cy="2386583"/>
          </a:xfrm>
          <a:prstGeom prst="rect">
            <a:avLst/>
          </a:prstGeom>
          <a:noFill/>
        </p:spPr>
        <p:txBody>
          <a:bodyPr wrap="square">
            <a:spAutoFit/>
          </a:bodyPr>
          <a:lstStyle/>
          <a:p>
            <a:pPr>
              <a:lnSpc>
                <a:spcPct val="100000"/>
              </a:lnSpc>
              <a:spcBef>
                <a:spcPts val="1000"/>
              </a:spcBef>
            </a:pPr>
            <a:r>
              <a:rPr sz="1900" b="0" i="0">
                <a:solidFill>
                  <a:srgbClr val="1A1A1A"/>
                </a:solidFill>
                <a:latin typeface="Times New Roman"/>
              </a:rPr>
              <a:t>The same input string goes to </a:t>
            </a:r>
            <a:r>
              <a:rPr sz="1900" b="1" i="0">
                <a:solidFill>
                  <a:srgbClr val="1A1A1A"/>
                </a:solidFill>
                <a:latin typeface="Times New Roman"/>
              </a:rPr>
              <a:t>all three machines</a:t>
            </a:r>
            <a:r>
              <a:rPr sz="1900" b="0" i="0">
                <a:solidFill>
                  <a:srgbClr val="1A1A1A"/>
                </a:solidFill>
                <a:latin typeface="Times New Roman"/>
              </a:rPr>
              <a:t>. No tier is allowed to short-circuit another — the point is to </a:t>
            </a:r>
            <a:r>
              <a:rPr sz="1900" b="1" i="0">
                <a:solidFill>
                  <a:srgbClr val="1A1A1A"/>
                </a:solidFill>
                <a:latin typeface="Times New Roman"/>
              </a:rPr>
              <a:t>see all three answers</a:t>
            </a:r>
            <a:r>
              <a:rPr sz="1900" b="0" i="0">
                <a:solidFill>
                  <a:srgbClr val="1A1A1A"/>
                </a:solidFill>
                <a:latin typeface="Times New Roman"/>
              </a:rPr>
              <a:t>.</a:t>
            </a:r>
          </a:p>
          <a:p>
            <a:pPr>
              <a:lnSpc>
                <a:spcPct val="100000"/>
              </a:lnSpc>
              <a:spcBef>
                <a:spcPts val="1000"/>
              </a:spcBef>
            </a:pPr>
            <a:r>
              <a:rPr sz="1900" b="0" i="0">
                <a:solidFill>
                  <a:srgbClr val="1A1A1A"/>
                </a:solidFill>
                <a:latin typeface="Times New Roman"/>
              </a:rPr>
              <a:t>Each question provably needs </a:t>
            </a:r>
            <a:r>
              <a:rPr sz="1900" b="1" i="0">
                <a:solidFill>
                  <a:srgbClr val="1A1A1A"/>
                </a:solidFill>
                <a:latin typeface="Times New Roman"/>
              </a:rPr>
              <a:t>strictly more machinery</a:t>
            </a:r>
            <a:r>
              <a:rPr sz="1900" b="0" i="0">
                <a:solidFill>
                  <a:srgbClr val="1A1A1A"/>
                </a:solidFill>
                <a:latin typeface="Times New Roman"/>
              </a:rPr>
              <a:t> than the one above it: finite memory, then one counter, then two.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094415" y="6291072"/>
            <a:ext cx="640080" cy="320040"/>
          </a:xfrm>
          <a:prstGeom prst="rect">
            <a:avLst/>
          </a:prstGeom>
          <a:noFill/>
        </p:spPr>
        <p:txBody>
          <a:bodyPr wrap="none">
            <a:spAutoFit/>
          </a:bodyPr>
          <a:lstStyle/>
          <a:p>
            <a:pPr algn="r"/>
            <a:r>
              <a:rPr sz="1100">
                <a:solidFill>
                  <a:srgbClr val="595959"/>
                </a:solidFill>
                <a:latin typeface="Times New Roman"/>
              </a:rPr>
              <a:t>5</a:t>
            </a:r>
          </a:p>
        </p:txBody>
      </p:sp>
      <p:sp>
        <p:nvSpPr>
          <p:cNvPr id="3" name="TextBox 2"/>
          <p:cNvSpPr txBox="1"/>
          <p:nvPr/>
        </p:nvSpPr>
        <p:spPr>
          <a:xfrm>
            <a:off x="566928" y="384048"/>
            <a:ext cx="11064240" cy="310896"/>
          </a:xfrm>
          <a:prstGeom prst="rect">
            <a:avLst/>
          </a:prstGeom>
          <a:noFill/>
        </p:spPr>
        <p:txBody>
          <a:bodyPr wrap="square">
            <a:spAutoFit/>
          </a:bodyPr>
          <a:lstStyle/>
          <a:p>
            <a:r>
              <a:rPr sz="1400" b="1" i="0">
                <a:solidFill>
                  <a:srgbClr val="595959"/>
                </a:solidFill>
                <a:latin typeface="Times New Roman"/>
              </a:rPr>
              <a:t>REGULAR</a:t>
            </a:r>
          </a:p>
        </p:txBody>
      </p:sp>
      <p:sp>
        <p:nvSpPr>
          <p:cNvPr id="4" name="TextBox 3"/>
          <p:cNvSpPr txBox="1"/>
          <p:nvPr/>
        </p:nvSpPr>
        <p:spPr>
          <a:xfrm>
            <a:off x="566928" y="713232"/>
            <a:ext cx="11064240" cy="777240"/>
          </a:xfrm>
          <a:prstGeom prst="rect">
            <a:avLst/>
          </a:prstGeom>
          <a:noFill/>
        </p:spPr>
        <p:txBody>
          <a:bodyPr wrap="square">
            <a:spAutoFit/>
          </a:bodyPr>
          <a:lstStyle/>
          <a:p>
            <a:r>
              <a:rPr sz="3100" b="1" i="0">
                <a:solidFill>
                  <a:srgbClr val="1F3864"/>
                </a:solidFill>
                <a:latin typeface="Times New Roman"/>
              </a:rPr>
              <a:t>Tier 1 — the finite automaton</a:t>
            </a:r>
          </a:p>
        </p:txBody>
      </p:sp>
      <p:sp>
        <p:nvSpPr>
          <p:cNvPr id="5" name="Rectangle 4"/>
          <p:cNvSpPr/>
          <p:nvPr/>
        </p:nvSpPr>
        <p:spPr>
          <a:xfrm>
            <a:off x="594360" y="1463040"/>
            <a:ext cx="11018520" cy="18288"/>
          </a:xfrm>
          <a:prstGeom prst="rect">
            <a:avLst/>
          </a:prstGeom>
          <a:solidFill>
            <a:srgbClr val="C0C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82496"/>
            <a:ext cx="10881360" cy="4535424"/>
          </a:xfrm>
          <a:prstGeom prst="rect">
            <a:avLst/>
          </a:prstGeom>
          <a:noFill/>
        </p:spPr>
        <p:txBody>
          <a:bodyPr wrap="square">
            <a:spAutoFit/>
          </a:bodyPr>
          <a:lstStyle/>
          <a:p>
            <a:pPr>
              <a:lnSpc>
                <a:spcPct val="100000"/>
              </a:lnSpc>
              <a:spcBef>
                <a:spcPts val="1000"/>
              </a:spcBef>
            </a:pPr>
            <a:r>
              <a:rPr sz="2000" b="1" i="0">
                <a:solidFill>
                  <a:srgbClr val="1A1A1A"/>
                </a:solidFill>
                <a:latin typeface="Times New Roman"/>
              </a:rPr>
              <a:t>M1 = (Q1, Σ, δ1, q0, F1)</a:t>
            </a:r>
            <a:r>
              <a:rPr sz="2000" b="0" i="0">
                <a:solidFill>
                  <a:srgbClr val="1A1A1A"/>
                </a:solidFill>
                <a:latin typeface="Times New Roman"/>
              </a:rPr>
              <a:t> with </a:t>
            </a:r>
            <a:r>
              <a:rPr sz="2000" b="1" i="0">
                <a:solidFill>
                  <a:srgbClr val="1A1A1A"/>
                </a:solidFill>
                <a:latin typeface="Times New Roman"/>
              </a:rPr>
              <a:t>Q1 = {q0, qN, qS, qE, qW, qdead}</a:t>
            </a:r>
            <a:r>
              <a:rPr sz="2000" b="0" i="0">
                <a:solidFill>
                  <a:srgbClr val="1A1A1A"/>
                </a:solidFill>
                <a:latin typeface="Times New Roman"/>
              </a:rPr>
              <a:t> and </a:t>
            </a:r>
            <a:r>
              <a:rPr sz="2000" b="1" i="0">
                <a:solidFill>
                  <a:srgbClr val="1A1A1A"/>
                </a:solidFill>
                <a:latin typeface="Times New Roman"/>
              </a:rPr>
              <a:t>F1 = Q1 \ {qdead}</a:t>
            </a:r>
            <a:r>
              <a:rPr sz="2000" b="0" i="0">
                <a:solidFill>
                  <a:srgbClr val="1A1A1A"/>
                </a:solidFill>
                <a:latin typeface="Times New Roman"/>
              </a:rPr>
              <a:t>.</a:t>
            </a:r>
          </a:p>
          <a:p>
            <a:pPr>
              <a:lnSpc>
                <a:spcPct val="100000"/>
              </a:lnSpc>
              <a:spcBef>
                <a:spcPts val="1000"/>
              </a:spcBef>
            </a:pPr>
            <a:r>
              <a:rPr sz="2000" b="0" i="0">
                <a:solidFill>
                  <a:srgbClr val="1A1A1A"/>
                </a:solidFill>
                <a:latin typeface="Times New Roman"/>
              </a:rPr>
              <a:t>The state </a:t>
            </a:r>
            <a:r>
              <a:rPr sz="2000" b="1" i="0">
                <a:solidFill>
                  <a:srgbClr val="1A1A1A"/>
                </a:solidFill>
                <a:latin typeface="Times New Roman"/>
              </a:rPr>
              <a:t>is</a:t>
            </a:r>
            <a:r>
              <a:rPr sz="2000" b="0" i="0">
                <a:solidFill>
                  <a:srgbClr val="1A1A1A"/>
                </a:solidFill>
                <a:latin typeface="Times New Roman"/>
              </a:rPr>
              <a:t> the last move made — that is the only thing this machine remembers.</a:t>
            </a:r>
          </a:p>
          <a:p>
            <a:pPr>
              <a:lnSpc>
                <a:spcPct val="100000"/>
              </a:lnSpc>
              <a:spcBef>
                <a:spcPts val="1000"/>
              </a:spcBef>
            </a:pPr>
            <a:r>
              <a:rPr sz="2000" b="0" i="0">
                <a:solidFill>
                  <a:srgbClr val="1A1A1A"/>
                </a:solidFill>
                <a:latin typeface="Times New Roman"/>
              </a:rPr>
              <a:t>Read </a:t>
            </a:r>
            <a:r>
              <a:rPr sz="2000" b="1" i="0">
                <a:solidFill>
                  <a:srgbClr val="1A1A1A"/>
                </a:solidFill>
                <a:latin typeface="Times New Roman"/>
              </a:rPr>
              <a:t>S</a:t>
            </a:r>
            <a:r>
              <a:rPr sz="2000" b="0" i="0">
                <a:solidFill>
                  <a:srgbClr val="1A1A1A"/>
                </a:solidFill>
                <a:latin typeface="Times New Roman"/>
              </a:rPr>
              <a:t> while in state </a:t>
            </a:r>
            <a:r>
              <a:rPr sz="2000" b="1" i="0">
                <a:solidFill>
                  <a:srgbClr val="1A1A1A"/>
                </a:solidFill>
                <a:latin typeface="Times New Roman"/>
              </a:rPr>
              <a:t>qN</a:t>
            </a:r>
            <a:r>
              <a:rPr sz="2000" b="0" i="0">
                <a:solidFill>
                  <a:srgbClr val="1A1A1A"/>
                </a:solidFill>
                <a:latin typeface="Times New Roman"/>
              </a:rPr>
              <a:t> and you have undone your last step: go to </a:t>
            </a:r>
            <a:r>
              <a:rPr sz="2000" b="1" i="0">
                <a:solidFill>
                  <a:srgbClr val="1A1A1A"/>
                </a:solidFill>
                <a:latin typeface="Times New Roman"/>
              </a:rPr>
              <a:t>qdead</a:t>
            </a:r>
            <a:r>
              <a:rPr sz="2000" b="0" i="0">
                <a:solidFill>
                  <a:srgbClr val="1A1A1A"/>
                </a:solidFill>
                <a:latin typeface="Times New Roman"/>
              </a:rPr>
              <a:t> and never come back. Any symbol outside Σ does the same.</a:t>
            </a:r>
          </a:p>
          <a:p>
            <a:pPr>
              <a:lnSpc>
                <a:spcPct val="100000"/>
              </a:lnSpc>
              <a:spcBef>
                <a:spcPts val="1000"/>
              </a:spcBef>
            </a:pPr>
            <a:r>
              <a:rPr sz="2000" b="1" i="0">
                <a:solidFill>
                  <a:srgbClr val="1A1A1A"/>
                </a:solidFill>
                <a:latin typeface="Times New Roman"/>
              </a:rPr>
              <a:t>δ1 is 24 explicit entries.</a:t>
            </a:r>
            <a:r>
              <a:rPr sz="2000" b="0" i="0">
                <a:solidFill>
                  <a:srgbClr val="1A1A1A"/>
                </a:solidFill>
                <a:latin typeface="Times New Roman"/>
              </a:rPr>
              <a:t> The implementation looks up (state, symbol) in a table. It never counts anything.</a:t>
            </a:r>
          </a:p>
        </p:txBody>
      </p:sp>
      <p:sp>
        <p:nvSpPr>
          <p:cNvPr id="7" name="Rectangle 6"/>
          <p:cNvSpPr/>
          <p:nvPr/>
        </p:nvSpPr>
        <p:spPr>
          <a:xfrm>
            <a:off x="685800" y="4407408"/>
            <a:ext cx="10835640" cy="960120"/>
          </a:xfrm>
          <a:prstGeom prst="rect">
            <a:avLst/>
          </a:prstGeom>
          <a:solidFill>
            <a:srgbClr val="F2F4F8"/>
          </a:solidFill>
          <a:ln w="9525">
            <a:solidFill>
              <a:srgbClr val="C0C8D4"/>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lnSpc>
                <a:spcPct val="100000"/>
              </a:lnSpc>
            </a:pPr>
            <a:r>
              <a:rPr sz="1500" b="0" i="0">
                <a:solidFill>
                  <a:srgbClr val="1A1A1A"/>
                </a:solidFill>
                <a:latin typeface="Courier New"/>
              </a:rPr>
              <a:t>NNESSW    q0 → qN → qN → qE → qS → qS → qW        ACCEPT</a:t>
            </a:r>
          </a:p>
          <a:p>
            <a:pPr algn="l">
              <a:lnSpc>
                <a:spcPct val="100000"/>
              </a:lnSpc>
            </a:pPr>
            <a:r>
              <a:rPr sz="1500" b="0" i="0">
                <a:solidFill>
                  <a:srgbClr val="1A1A1A"/>
                </a:solidFill>
                <a:latin typeface="Courier New"/>
              </a:rPr>
              <a:t>NS        q0 → qN → qdead                            REJECT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094415" y="6291072"/>
            <a:ext cx="640080" cy="320040"/>
          </a:xfrm>
          <a:prstGeom prst="rect">
            <a:avLst/>
          </a:prstGeom>
          <a:noFill/>
        </p:spPr>
        <p:txBody>
          <a:bodyPr wrap="none">
            <a:spAutoFit/>
          </a:bodyPr>
          <a:lstStyle/>
          <a:p>
            <a:pPr algn="r"/>
            <a:r>
              <a:rPr sz="1100">
                <a:solidFill>
                  <a:srgbClr val="595959"/>
                </a:solidFill>
                <a:latin typeface="Times New Roman"/>
              </a:rPr>
              <a:t>6</a:t>
            </a:r>
          </a:p>
        </p:txBody>
      </p:sp>
      <p:sp>
        <p:nvSpPr>
          <p:cNvPr id="3" name="TextBox 2"/>
          <p:cNvSpPr txBox="1"/>
          <p:nvPr/>
        </p:nvSpPr>
        <p:spPr>
          <a:xfrm>
            <a:off x="566928" y="384048"/>
            <a:ext cx="11064240" cy="310896"/>
          </a:xfrm>
          <a:prstGeom prst="rect">
            <a:avLst/>
          </a:prstGeom>
          <a:noFill/>
        </p:spPr>
        <p:txBody>
          <a:bodyPr wrap="square">
            <a:spAutoFit/>
          </a:bodyPr>
          <a:lstStyle/>
          <a:p>
            <a:r>
              <a:rPr sz="1400" b="1" i="0">
                <a:solidFill>
                  <a:srgbClr val="595959"/>
                </a:solidFill>
                <a:latin typeface="Times New Roman"/>
              </a:rPr>
              <a:t>CONTEXT-FREE</a:t>
            </a:r>
          </a:p>
        </p:txBody>
      </p:sp>
      <p:sp>
        <p:nvSpPr>
          <p:cNvPr id="4" name="TextBox 3"/>
          <p:cNvSpPr txBox="1"/>
          <p:nvPr/>
        </p:nvSpPr>
        <p:spPr>
          <a:xfrm>
            <a:off x="566928" y="713232"/>
            <a:ext cx="11064240" cy="777240"/>
          </a:xfrm>
          <a:prstGeom prst="rect">
            <a:avLst/>
          </a:prstGeom>
          <a:noFill/>
        </p:spPr>
        <p:txBody>
          <a:bodyPr wrap="square">
            <a:spAutoFit/>
          </a:bodyPr>
          <a:lstStyle/>
          <a:p>
            <a:r>
              <a:rPr sz="3100" b="1" i="0">
                <a:solidFill>
                  <a:srgbClr val="1F3864"/>
                </a:solidFill>
                <a:latin typeface="Times New Roman"/>
              </a:rPr>
              <a:t>Tier 2 — the pushdown automaton and the grammar</a:t>
            </a:r>
          </a:p>
        </p:txBody>
      </p:sp>
      <p:sp>
        <p:nvSpPr>
          <p:cNvPr id="5" name="Rectangle 4"/>
          <p:cNvSpPr/>
          <p:nvPr/>
        </p:nvSpPr>
        <p:spPr>
          <a:xfrm>
            <a:off x="594360" y="1463040"/>
            <a:ext cx="11018520" cy="18288"/>
          </a:xfrm>
          <a:prstGeom prst="rect">
            <a:avLst/>
          </a:prstGeom>
          <a:solidFill>
            <a:srgbClr val="C0C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82496"/>
            <a:ext cx="10881360" cy="4535424"/>
          </a:xfrm>
          <a:prstGeom prst="rect">
            <a:avLst/>
          </a:prstGeom>
          <a:noFill/>
        </p:spPr>
        <p:txBody>
          <a:bodyPr wrap="square">
            <a:spAutoFit/>
          </a:bodyPr>
          <a:lstStyle/>
          <a:p>
            <a:pPr>
              <a:lnSpc>
                <a:spcPct val="100000"/>
              </a:lnSpc>
              <a:spcBef>
                <a:spcPts val="1000"/>
              </a:spcBef>
            </a:pPr>
            <a:r>
              <a:rPr sz="1900" b="1" i="0">
                <a:solidFill>
                  <a:srgbClr val="1A1A1A"/>
                </a:solidFill>
                <a:latin typeface="Times New Roman"/>
              </a:rPr>
              <a:t>P2 = ({qstart, qloop, qaccept}, Σ, {N, S, $}, δ2, qstart, {qaccept})</a:t>
            </a:r>
            <a:r>
              <a:rPr sz="1900" b="0" i="0">
                <a:solidFill>
                  <a:srgbClr val="1A1A1A"/>
                </a:solidFill>
                <a:latin typeface="Times New Roman"/>
              </a:rPr>
              <a:t> — deterministic, 10 transitions.</a:t>
            </a:r>
          </a:p>
          <a:p>
            <a:pPr>
              <a:lnSpc>
                <a:spcPct val="100000"/>
              </a:lnSpc>
              <a:spcBef>
                <a:spcPts val="1000"/>
              </a:spcBef>
            </a:pPr>
            <a:r>
              <a:rPr sz="1900" b="1" i="0">
                <a:solidFill>
                  <a:srgbClr val="1A1A1A"/>
                </a:solidFill>
                <a:latin typeface="Times New Roman"/>
              </a:rPr>
              <a:t>A signed tally, not a nesting check.</a:t>
            </a:r>
            <a:r>
              <a:rPr sz="1900" b="0" i="0">
                <a:solidFill>
                  <a:srgbClr val="1A1A1A"/>
                </a:solidFill>
                <a:latin typeface="Times New Roman"/>
              </a:rPr>
              <a:t> #N = #S does not care about order, so the stack pushes on a fresh direction and pops when the opposite one cancels it. Depth is always </a:t>
            </a:r>
            <a:r>
              <a:rPr sz="1900" b="1" i="0">
                <a:solidFill>
                  <a:srgbClr val="1A1A1A"/>
                </a:solidFill>
                <a:latin typeface="Times New Roman"/>
              </a:rPr>
              <a:t>|#N − #S|</a:t>
            </a:r>
            <a:r>
              <a:rPr sz="1900" b="0" i="0">
                <a:solidFill>
                  <a:srgbClr val="1A1A1A"/>
                </a:solidFill>
                <a:latin typeface="Times New Roman"/>
              </a:rPr>
              <a:t>. E and W leave the stack untouched.</a:t>
            </a:r>
          </a:p>
          <a:p>
            <a:pPr>
              <a:lnSpc>
                <a:spcPct val="100000"/>
              </a:lnSpc>
              <a:spcBef>
                <a:spcPts val="1000"/>
              </a:spcBef>
            </a:pPr>
            <a:r>
              <a:rPr sz="1900" b="1" i="0">
                <a:solidFill>
                  <a:srgbClr val="1A1A1A"/>
                </a:solidFill>
                <a:latin typeface="Times New Roman"/>
              </a:rPr>
              <a:t>G2:  B → NBSB | SBNB | EB | WB | ε</a:t>
            </a:r>
            <a:r>
              <a:rPr sz="1900" b="0" i="0">
                <a:solidFill>
                  <a:srgbClr val="1A1A1A"/>
                </a:solidFill>
                <a:latin typeface="Times New Roman"/>
              </a:rPr>
              <a:t> — one variable, because “balanced” is the only property being tracked.</a:t>
            </a:r>
          </a:p>
          <a:p>
            <a:pPr>
              <a:lnSpc>
                <a:spcPct val="100000"/>
              </a:lnSpc>
              <a:spcBef>
                <a:spcPts val="1000"/>
              </a:spcBef>
            </a:pPr>
            <a:r>
              <a:rPr sz="1900" b="0" i="0">
                <a:solidFill>
                  <a:srgbClr val="1A1A1A"/>
                </a:solidFill>
                <a:latin typeface="Times New Roman"/>
              </a:rPr>
              <a:t>Accepted walks get a </a:t>
            </a:r>
            <a:r>
              <a:rPr sz="1900" b="1" i="0">
                <a:solidFill>
                  <a:srgbClr val="1A1A1A"/>
                </a:solidFill>
                <a:latin typeface="Times New Roman"/>
              </a:rPr>
              <a:t>printed leftmost derivation</a:t>
            </a:r>
            <a:r>
              <a:rPr sz="1900" b="0" i="0">
                <a:solidFill>
                  <a:srgbClr val="1A1A1A"/>
                </a:solidFill>
                <a:latin typeface="Times New Roman"/>
              </a:rPr>
              <a:t>, so the grammar and the machine can be seen to agree.</a:t>
            </a:r>
          </a:p>
        </p:txBody>
      </p:sp>
      <p:sp>
        <p:nvSpPr>
          <p:cNvPr id="7" name="Rectangle 6"/>
          <p:cNvSpPr/>
          <p:nvPr/>
        </p:nvSpPr>
        <p:spPr>
          <a:xfrm>
            <a:off x="685800" y="4626864"/>
            <a:ext cx="10835640" cy="713232"/>
          </a:xfrm>
          <a:prstGeom prst="rect">
            <a:avLst/>
          </a:prstGeom>
          <a:solidFill>
            <a:srgbClr val="F2F4F8"/>
          </a:solidFill>
          <a:ln w="9525">
            <a:solidFill>
              <a:srgbClr val="C0C8D4"/>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lnSpc>
                <a:spcPct val="100000"/>
              </a:lnSpc>
            </a:pPr>
            <a:r>
              <a:rPr sz="1400" b="0" i="0">
                <a:solidFill>
                  <a:srgbClr val="1A1A1A"/>
                </a:solidFill>
                <a:latin typeface="Courier New"/>
              </a:rPr>
              <a:t>B ⇒ NBSB ⇒ NNBSBSB ⇒ NNEBSBSB ⇒ NNESBSB ⇒ NNESSB ⇒ NNESSWB ⇒ NNESSW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094415" y="6291072"/>
            <a:ext cx="640080" cy="320040"/>
          </a:xfrm>
          <a:prstGeom prst="rect">
            <a:avLst/>
          </a:prstGeom>
          <a:noFill/>
        </p:spPr>
        <p:txBody>
          <a:bodyPr wrap="none">
            <a:spAutoFit/>
          </a:bodyPr>
          <a:lstStyle/>
          <a:p>
            <a:pPr algn="r"/>
            <a:r>
              <a:rPr sz="1100">
                <a:solidFill>
                  <a:srgbClr val="595959"/>
                </a:solidFill>
                <a:latin typeface="Times New Roman"/>
              </a:rPr>
              <a:t>7</a:t>
            </a:r>
          </a:p>
        </p:txBody>
      </p:sp>
      <p:sp>
        <p:nvSpPr>
          <p:cNvPr id="3" name="TextBox 2"/>
          <p:cNvSpPr txBox="1"/>
          <p:nvPr/>
        </p:nvSpPr>
        <p:spPr>
          <a:xfrm>
            <a:off x="566928" y="384048"/>
            <a:ext cx="11064240" cy="310896"/>
          </a:xfrm>
          <a:prstGeom prst="rect">
            <a:avLst/>
          </a:prstGeom>
          <a:noFill/>
        </p:spPr>
        <p:txBody>
          <a:bodyPr wrap="square">
            <a:spAutoFit/>
          </a:bodyPr>
          <a:lstStyle/>
          <a:p>
            <a:r>
              <a:rPr sz="1400" b="1" i="0">
                <a:solidFill>
                  <a:srgbClr val="595959"/>
                </a:solidFill>
                <a:latin typeface="Times New Roman"/>
              </a:rPr>
              <a:t>THEOREM 1</a:t>
            </a:r>
          </a:p>
        </p:txBody>
      </p:sp>
      <p:sp>
        <p:nvSpPr>
          <p:cNvPr id="4" name="TextBox 3"/>
          <p:cNvSpPr txBox="1"/>
          <p:nvPr/>
        </p:nvSpPr>
        <p:spPr>
          <a:xfrm>
            <a:off x="566928" y="713232"/>
            <a:ext cx="11064240" cy="777240"/>
          </a:xfrm>
          <a:prstGeom prst="rect">
            <a:avLst/>
          </a:prstGeom>
          <a:noFill/>
        </p:spPr>
        <p:txBody>
          <a:bodyPr wrap="square">
            <a:spAutoFit/>
          </a:bodyPr>
          <a:lstStyle/>
          <a:p>
            <a:r>
              <a:rPr sz="3100" b="1" i="0">
                <a:solidFill>
                  <a:srgbClr val="1F3864"/>
                </a:solidFill>
                <a:latin typeface="Times New Roman"/>
              </a:rPr>
              <a:t>Why a stack is not optional</a:t>
            </a:r>
          </a:p>
        </p:txBody>
      </p:sp>
      <p:sp>
        <p:nvSpPr>
          <p:cNvPr id="5" name="Rectangle 4"/>
          <p:cNvSpPr/>
          <p:nvPr/>
        </p:nvSpPr>
        <p:spPr>
          <a:xfrm>
            <a:off x="594360" y="1463040"/>
            <a:ext cx="11018520" cy="18288"/>
          </a:xfrm>
          <a:prstGeom prst="rect">
            <a:avLst/>
          </a:prstGeom>
          <a:solidFill>
            <a:srgbClr val="C0C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82496"/>
            <a:ext cx="10881360" cy="4535424"/>
          </a:xfrm>
          <a:prstGeom prst="rect">
            <a:avLst/>
          </a:prstGeom>
          <a:noFill/>
        </p:spPr>
        <p:txBody>
          <a:bodyPr wrap="square">
            <a:spAutoFit/>
          </a:bodyPr>
          <a:lstStyle/>
          <a:p>
            <a:pPr>
              <a:lnSpc>
                <a:spcPct val="100000"/>
              </a:lnSpc>
              <a:spcBef>
                <a:spcPts val="1000"/>
              </a:spcBef>
            </a:pPr>
            <a:r>
              <a:rPr sz="2000" b="1" i="0">
                <a:solidFill>
                  <a:srgbClr val="1A1A1A"/>
                </a:solidFill>
                <a:latin typeface="Times New Roman"/>
              </a:rPr>
              <a:t>Claim.</a:t>
            </a:r>
            <a:r>
              <a:rPr sz="2000" b="0" i="0">
                <a:solidFill>
                  <a:srgbClr val="1A1A1A"/>
                </a:solidFill>
                <a:latin typeface="Times New Roman"/>
              </a:rPr>
              <a:t> L2 = { w : #N(w) = #S(w) } is </a:t>
            </a:r>
            <a:r>
              <a:rPr sz="2000" b="1" i="0">
                <a:solidFill>
                  <a:srgbClr val="1A1A1A"/>
                </a:solidFill>
                <a:latin typeface="Times New Roman"/>
              </a:rPr>
              <a:t>not regular</a:t>
            </a:r>
            <a:r>
              <a:rPr sz="2000" b="0" i="0">
                <a:solidFill>
                  <a:srgbClr val="1A1A1A"/>
                </a:solidFill>
                <a:latin typeface="Times New Roman"/>
              </a:rPr>
              <a:t> — so no DFA, however many states, can answer question 2.</a:t>
            </a:r>
          </a:p>
          <a:p>
            <a:pPr>
              <a:lnSpc>
                <a:spcPct val="100000"/>
              </a:lnSpc>
              <a:spcBef>
                <a:spcPts val="1000"/>
              </a:spcBef>
            </a:pPr>
            <a:r>
              <a:rPr sz="2000" b="1" i="0">
                <a:solidFill>
                  <a:srgbClr val="1A1A1A"/>
                </a:solidFill>
                <a:latin typeface="Times New Roman"/>
              </a:rPr>
              <a:t>Proof sketch.</a:t>
            </a:r>
            <a:r>
              <a:rPr sz="2000" b="0" i="0">
                <a:solidFill>
                  <a:srgbClr val="1A1A1A"/>
                </a:solidFill>
                <a:latin typeface="Times New Roman"/>
              </a:rPr>
              <a:t> Regular languages are closed under intersection with a regular language. Intersect L2 with </a:t>
            </a:r>
            <a:r>
              <a:rPr sz="2000" b="1" i="0">
                <a:solidFill>
                  <a:srgbClr val="1A1A1A"/>
                </a:solidFill>
                <a:latin typeface="Times New Roman"/>
              </a:rPr>
              <a:t>N*S</a:t>
            </a:r>
            <a:r>
              <a:rPr sz="2000" b="0" i="0">
                <a:solidFill>
                  <a:srgbClr val="1A1A1A"/>
                </a:solidFill>
                <a:latin typeface="Times New Roman"/>
              </a:rPr>
              <a:t>* and you get </a:t>
            </a:r>
            <a:r>
              <a:rPr sz="2000" b="1" i="0">
                <a:solidFill>
                  <a:srgbClr val="1A1A1A"/>
                </a:solidFill>
                <a:latin typeface="Times New Roman"/>
              </a:rPr>
              <a:t>{ NⁿSⁿ }</a:t>
            </a:r>
            <a:r>
              <a:rPr sz="2000" b="0" i="0">
                <a:solidFill>
                  <a:srgbClr val="1A1A1A"/>
                </a:solidFill>
                <a:latin typeface="Times New Roman"/>
              </a:rPr>
              <a:t>.</a:t>
            </a:r>
          </a:p>
          <a:p>
            <a:pPr>
              <a:lnSpc>
                <a:spcPct val="100000"/>
              </a:lnSpc>
              <a:spcBef>
                <a:spcPts val="1000"/>
              </a:spcBef>
            </a:pPr>
            <a:r>
              <a:rPr sz="2000" b="0" i="0">
                <a:solidFill>
                  <a:srgbClr val="1A1A1A"/>
                </a:solidFill>
                <a:latin typeface="Times New Roman"/>
              </a:rPr>
              <a:t>Apply the pumping lemma (Sipser, Thm 1.70) to </a:t>
            </a:r>
            <a:r>
              <a:rPr sz="2000" b="1" i="0">
                <a:solidFill>
                  <a:srgbClr val="1A1A1A"/>
                </a:solidFill>
                <a:latin typeface="Times New Roman"/>
              </a:rPr>
              <a:t>s = NᵖSᵖ</a:t>
            </a:r>
            <a:r>
              <a:rPr sz="2000" b="0" i="0">
                <a:solidFill>
                  <a:srgbClr val="1A1A1A"/>
                </a:solidFill>
                <a:latin typeface="Times New Roman"/>
              </a:rPr>
              <a:t>: any pumped piece </a:t>
            </a:r>
            <a:r>
              <a:rPr sz="2000" b="1" i="0">
                <a:solidFill>
                  <a:srgbClr val="1A1A1A"/>
                </a:solidFill>
                <a:latin typeface="Times New Roman"/>
              </a:rPr>
              <a:t>y</a:t>
            </a:r>
            <a:r>
              <a:rPr sz="2000" b="0" i="0">
                <a:solidFill>
                  <a:srgbClr val="1A1A1A"/>
                </a:solidFill>
                <a:latin typeface="Times New Roman"/>
              </a:rPr>
              <a:t> lies inside the block of N's, so </a:t>
            </a:r>
            <a:r>
              <a:rPr sz="2000" b="1" i="0">
                <a:solidFill>
                  <a:srgbClr val="1A1A1A"/>
                </a:solidFill>
                <a:latin typeface="Times New Roman"/>
              </a:rPr>
              <a:t>xy²z</a:t>
            </a:r>
            <a:r>
              <a:rPr sz="2000" b="0" i="0">
                <a:solidFill>
                  <a:srgbClr val="1A1A1A"/>
                </a:solidFill>
                <a:latin typeface="Times New Roman"/>
              </a:rPr>
              <a:t> has more N's than S's and leaves the language.</a:t>
            </a:r>
          </a:p>
          <a:p>
            <a:pPr>
              <a:lnSpc>
                <a:spcPct val="100000"/>
              </a:lnSpc>
              <a:spcBef>
                <a:spcPts val="1000"/>
              </a:spcBef>
            </a:pPr>
            <a:r>
              <a:rPr sz="2000" b="0" i="0">
                <a:solidFill>
                  <a:srgbClr val="1A1A1A"/>
                </a:solidFill>
                <a:latin typeface="Times New Roman"/>
              </a:rPr>
              <a:t>So { NⁿSⁿ } is not regular, therefore </a:t>
            </a:r>
            <a:r>
              <a:rPr sz="2000" b="1" i="0">
                <a:solidFill>
                  <a:srgbClr val="1A1A1A"/>
                </a:solidFill>
                <a:latin typeface="Times New Roman"/>
              </a:rPr>
              <a:t>L2 is not regular</a:t>
            </a:r>
            <a:r>
              <a:rPr sz="2000" b="0" i="0">
                <a:solidFill>
                  <a:srgbClr val="1A1A1A"/>
                </a:solidFill>
                <a:latin typeface="Times New Roman"/>
              </a:rPr>
              <a:t>.</a:t>
            </a:r>
          </a:p>
          <a:p>
            <a:pPr>
              <a:lnSpc>
                <a:spcPct val="100000"/>
              </a:lnSpc>
              <a:spcBef>
                <a:spcPts val="1000"/>
              </a:spcBef>
            </a:pPr>
            <a:r>
              <a:rPr sz="2000" b="1" i="0">
                <a:solidFill>
                  <a:srgbClr val="1A1A1A"/>
                </a:solidFill>
                <a:latin typeface="Times New Roman"/>
              </a:rPr>
              <a:t>In plain terms: a goldfish cannot count.</a:t>
            </a:r>
            <a:r>
              <a:rPr sz="2000" b="0" i="0">
                <a:solidFill>
                  <a:srgbClr val="1A1A1A"/>
                </a:solidFill>
                <a:latin typeface="Times New Roman"/>
              </a:rPr>
              <a:t> You need the sticky notes.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094415" y="6291072"/>
            <a:ext cx="640080" cy="320040"/>
          </a:xfrm>
          <a:prstGeom prst="rect">
            <a:avLst/>
          </a:prstGeom>
          <a:noFill/>
        </p:spPr>
        <p:txBody>
          <a:bodyPr wrap="none">
            <a:spAutoFit/>
          </a:bodyPr>
          <a:lstStyle/>
          <a:p>
            <a:pPr algn="r"/>
            <a:r>
              <a:rPr sz="1100">
                <a:solidFill>
                  <a:srgbClr val="595959"/>
                </a:solidFill>
                <a:latin typeface="Times New Roman"/>
              </a:rPr>
              <a:t>8</a:t>
            </a:r>
          </a:p>
        </p:txBody>
      </p:sp>
      <p:sp>
        <p:nvSpPr>
          <p:cNvPr id="3" name="TextBox 2"/>
          <p:cNvSpPr txBox="1"/>
          <p:nvPr/>
        </p:nvSpPr>
        <p:spPr>
          <a:xfrm>
            <a:off x="566928" y="384048"/>
            <a:ext cx="11064240" cy="310896"/>
          </a:xfrm>
          <a:prstGeom prst="rect">
            <a:avLst/>
          </a:prstGeom>
          <a:noFill/>
        </p:spPr>
        <p:txBody>
          <a:bodyPr wrap="square">
            <a:spAutoFit/>
          </a:bodyPr>
          <a:lstStyle/>
          <a:p>
            <a:r>
              <a:rPr sz="1400" b="1" i="0">
                <a:solidFill>
                  <a:srgbClr val="595959"/>
                </a:solidFill>
                <a:latin typeface="Times New Roman"/>
              </a:rPr>
              <a:t>DECIDABLE</a:t>
            </a:r>
          </a:p>
        </p:txBody>
      </p:sp>
      <p:sp>
        <p:nvSpPr>
          <p:cNvPr id="4" name="TextBox 3"/>
          <p:cNvSpPr txBox="1"/>
          <p:nvPr/>
        </p:nvSpPr>
        <p:spPr>
          <a:xfrm>
            <a:off x="566928" y="713232"/>
            <a:ext cx="11064240" cy="777240"/>
          </a:xfrm>
          <a:prstGeom prst="rect">
            <a:avLst/>
          </a:prstGeom>
          <a:noFill/>
        </p:spPr>
        <p:txBody>
          <a:bodyPr wrap="square">
            <a:spAutoFit/>
          </a:bodyPr>
          <a:lstStyle/>
          <a:p>
            <a:r>
              <a:rPr sz="3100" b="1" i="0">
                <a:solidFill>
                  <a:srgbClr val="1F3864"/>
                </a:solidFill>
                <a:latin typeface="Times New Roman"/>
              </a:rPr>
              <a:t>Tier 3 — the Turing machine</a:t>
            </a:r>
          </a:p>
        </p:txBody>
      </p:sp>
      <p:sp>
        <p:nvSpPr>
          <p:cNvPr id="5" name="Rectangle 4"/>
          <p:cNvSpPr/>
          <p:nvPr/>
        </p:nvSpPr>
        <p:spPr>
          <a:xfrm>
            <a:off x="594360" y="1463040"/>
            <a:ext cx="11018520" cy="18288"/>
          </a:xfrm>
          <a:prstGeom prst="rect">
            <a:avLst/>
          </a:prstGeom>
          <a:solidFill>
            <a:srgbClr val="C0C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82496"/>
            <a:ext cx="10881360" cy="4535424"/>
          </a:xfrm>
          <a:prstGeom prst="rect">
            <a:avLst/>
          </a:prstGeom>
          <a:noFill/>
        </p:spPr>
        <p:txBody>
          <a:bodyPr wrap="square">
            <a:spAutoFit/>
          </a:bodyPr>
          <a:lstStyle/>
          <a:p>
            <a:pPr>
              <a:lnSpc>
                <a:spcPct val="100000"/>
              </a:lnSpc>
              <a:spcBef>
                <a:spcPts val="1000"/>
              </a:spcBef>
            </a:pPr>
            <a:r>
              <a:rPr sz="2000" b="0" i="0">
                <a:solidFill>
                  <a:srgbClr val="1A1A1A"/>
                </a:solidFill>
                <a:latin typeface="Times New Roman"/>
              </a:rPr>
              <a:t>Tape alphabet </a:t>
            </a:r>
            <a:r>
              <a:rPr sz="2000" b="1" i="0">
                <a:solidFill>
                  <a:srgbClr val="1A1A1A"/>
                </a:solidFill>
                <a:latin typeface="Times New Roman"/>
              </a:rPr>
              <a:t>{N, S, E, W, ×, ␣}</a:t>
            </a:r>
            <a:r>
              <a:rPr sz="2000" b="0" i="0">
                <a:solidFill>
                  <a:srgbClr val="1A1A1A"/>
                </a:solidFill>
                <a:latin typeface="Times New Roman"/>
              </a:rPr>
              <a:t>. The input is written on the tape and a head moves one cell at a time.</a:t>
            </a:r>
          </a:p>
          <a:p>
            <a:pPr>
              <a:lnSpc>
                <a:spcPct val="100000"/>
              </a:lnSpc>
              <a:spcBef>
                <a:spcPts val="1000"/>
              </a:spcBef>
            </a:pPr>
            <a:r>
              <a:rPr sz="2000" b="1" i="0">
                <a:solidFill>
                  <a:srgbClr val="1A1A1A"/>
                </a:solidFill>
                <a:latin typeface="Times New Roman"/>
              </a:rPr>
              <a:t>PAIR-CHECK(X, Y):</a:t>
            </a:r>
            <a:r>
              <a:rPr sz="2000" b="0" i="0">
                <a:solidFill>
                  <a:srgbClr val="1A1A1A"/>
                </a:solidFill>
                <a:latin typeface="Times New Roman"/>
              </a:rPr>
              <a:t> scan right for an unmarked X and cross it off, scan on for a Y and cross that off, return to the left end, repeat. Leftovers of either kind → reject.</a:t>
            </a:r>
          </a:p>
          <a:p>
            <a:pPr>
              <a:lnSpc>
                <a:spcPct val="100000"/>
              </a:lnSpc>
              <a:spcBef>
                <a:spcPts val="1000"/>
              </a:spcBef>
            </a:pPr>
            <a:r>
              <a:rPr sz="2000" b="0" i="0">
                <a:solidFill>
                  <a:srgbClr val="1A1A1A"/>
                </a:solidFill>
                <a:latin typeface="Times New Roman"/>
              </a:rPr>
              <a:t>Run it </a:t>
            </a:r>
            <a:r>
              <a:rPr sz="2000" b="1" i="0">
                <a:solidFill>
                  <a:srgbClr val="1A1A1A"/>
                </a:solidFill>
                <a:latin typeface="Times New Roman"/>
              </a:rPr>
              <a:t>twice</a:t>
            </a:r>
            <a:r>
              <a:rPr sz="2000" b="0" i="0">
                <a:solidFill>
                  <a:srgbClr val="1A1A1A"/>
                </a:solidFill>
                <a:latin typeface="Times New Roman"/>
              </a:rPr>
              <a:t> — once as (N, S), then as (E, W). </a:t>
            </a:r>
            <a:r>
              <a:rPr sz="2000" b="1" i="0">
                <a:solidFill>
                  <a:srgbClr val="1A1A1A"/>
                </a:solidFill>
                <a:latin typeface="Times New Roman"/>
              </a:rPr>
              <a:t>16 states, 84 transitions</a:t>
            </a:r>
            <a:r>
              <a:rPr sz="2000" b="0" i="0">
                <a:solidFill>
                  <a:srgbClr val="1A1A1A"/>
                </a:solidFill>
                <a:latin typeface="Times New Roman"/>
              </a:rPr>
              <a:t>, built by instantiating one subroutine twice.</a:t>
            </a:r>
          </a:p>
          <a:p>
            <a:pPr>
              <a:lnSpc>
                <a:spcPct val="100000"/>
              </a:lnSpc>
              <a:spcBef>
                <a:spcPts val="1000"/>
              </a:spcBef>
            </a:pPr>
            <a:r>
              <a:rPr sz="2000" b="0" i="0">
                <a:solidFill>
                  <a:srgbClr val="1A1A1A"/>
                </a:solidFill>
                <a:latin typeface="Times New Roman"/>
              </a:rPr>
              <a:t>Everything pairs up → </a:t>
            </a:r>
            <a:r>
              <a:rPr sz="2000" b="1" i="0">
                <a:solidFill>
                  <a:srgbClr val="1A1A1A"/>
                </a:solidFill>
                <a:latin typeface="Times New Roman"/>
              </a:rPr>
              <a:t>accept</a:t>
            </a:r>
            <a:r>
              <a:rPr sz="2000" b="0" i="0">
                <a:solidFill>
                  <a:srgbClr val="1A1A1A"/>
                </a:solidFill>
                <a:latin typeface="Times New Roman"/>
              </a:rPr>
              <a:t>. </a:t>
            </a:r>
            <a:r>
              <a:rPr sz="2000" b="1" i="0">
                <a:solidFill>
                  <a:srgbClr val="1A1A1A"/>
                </a:solidFill>
                <a:latin typeface="Times New Roman"/>
              </a:rPr>
              <a:t>The machine always halts: it is a decider.</a:t>
            </a:r>
          </a:p>
        </p:txBody>
      </p:sp>
      <p:sp>
        <p:nvSpPr>
          <p:cNvPr id="7" name="Rectangle 6"/>
          <p:cNvSpPr/>
          <p:nvPr/>
        </p:nvSpPr>
        <p:spPr>
          <a:xfrm>
            <a:off x="685800" y="4352544"/>
            <a:ext cx="10835640" cy="960120"/>
          </a:xfrm>
          <a:prstGeom prst="rect">
            <a:avLst/>
          </a:prstGeom>
          <a:solidFill>
            <a:srgbClr val="F2F4F8"/>
          </a:solidFill>
          <a:ln w="9525">
            <a:solidFill>
              <a:srgbClr val="C0C8D4"/>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lnSpc>
                <a:spcPct val="100000"/>
              </a:lnSpc>
            </a:pPr>
            <a:r>
              <a:rPr sz="1400" b="0" i="0">
                <a:solidFill>
                  <a:srgbClr val="1A1A1A"/>
                </a:solidFill>
                <a:latin typeface="Courier New"/>
              </a:rPr>
              <a:t>NNESSW  →  xNESSW  →  xNExSW  →  xxExSW  →  xxExxW  →  xxxxxW  →  xxxxxx</a:t>
            </a:r>
          </a:p>
          <a:p>
            <a:pPr algn="l">
              <a:lnSpc>
                <a:spcPct val="100000"/>
              </a:lnSpc>
            </a:pPr>
            <a:r>
              <a:rPr sz="1400" b="0" i="0">
                <a:solidFill>
                  <a:srgbClr val="1A1A1A"/>
                </a:solidFill>
                <a:latin typeface="Courier New"/>
              </a:rPr>
              <a:t>                phase 1: N against S                 phase 2: E against 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094415" y="6291072"/>
            <a:ext cx="640080" cy="320040"/>
          </a:xfrm>
          <a:prstGeom prst="rect">
            <a:avLst/>
          </a:prstGeom>
          <a:noFill/>
        </p:spPr>
        <p:txBody>
          <a:bodyPr wrap="none">
            <a:spAutoFit/>
          </a:bodyPr>
          <a:lstStyle/>
          <a:p>
            <a:pPr algn="r"/>
            <a:r>
              <a:rPr sz="1100">
                <a:solidFill>
                  <a:srgbClr val="595959"/>
                </a:solidFill>
                <a:latin typeface="Times New Roman"/>
              </a:rPr>
              <a:t>9</a:t>
            </a:r>
          </a:p>
        </p:txBody>
      </p:sp>
      <p:sp>
        <p:nvSpPr>
          <p:cNvPr id="3" name="TextBox 2"/>
          <p:cNvSpPr txBox="1"/>
          <p:nvPr/>
        </p:nvSpPr>
        <p:spPr>
          <a:xfrm>
            <a:off x="566928" y="384048"/>
            <a:ext cx="11064240" cy="310896"/>
          </a:xfrm>
          <a:prstGeom prst="rect">
            <a:avLst/>
          </a:prstGeom>
          <a:noFill/>
        </p:spPr>
        <p:txBody>
          <a:bodyPr wrap="square">
            <a:spAutoFit/>
          </a:bodyPr>
          <a:lstStyle/>
          <a:p>
            <a:r>
              <a:rPr sz="1400" b="1" i="0">
                <a:solidFill>
                  <a:srgbClr val="595959"/>
                </a:solidFill>
                <a:latin typeface="Times New Roman"/>
              </a:rPr>
              <a:t>THEOREM 2</a:t>
            </a:r>
          </a:p>
        </p:txBody>
      </p:sp>
      <p:sp>
        <p:nvSpPr>
          <p:cNvPr id="4" name="TextBox 3"/>
          <p:cNvSpPr txBox="1"/>
          <p:nvPr/>
        </p:nvSpPr>
        <p:spPr>
          <a:xfrm>
            <a:off x="566928" y="713232"/>
            <a:ext cx="11064240" cy="777240"/>
          </a:xfrm>
          <a:prstGeom prst="rect">
            <a:avLst/>
          </a:prstGeom>
          <a:noFill/>
        </p:spPr>
        <p:txBody>
          <a:bodyPr wrap="square">
            <a:spAutoFit/>
          </a:bodyPr>
          <a:lstStyle/>
          <a:p>
            <a:r>
              <a:rPr sz="3100" b="1" i="0">
                <a:solidFill>
                  <a:srgbClr val="1F3864"/>
                </a:solidFill>
                <a:latin typeface="Times New Roman"/>
              </a:rPr>
              <a:t>Why a tape is not optional</a:t>
            </a:r>
          </a:p>
        </p:txBody>
      </p:sp>
      <p:sp>
        <p:nvSpPr>
          <p:cNvPr id="5" name="Rectangle 4"/>
          <p:cNvSpPr/>
          <p:nvPr/>
        </p:nvSpPr>
        <p:spPr>
          <a:xfrm>
            <a:off x="594360" y="1463040"/>
            <a:ext cx="11018520" cy="18288"/>
          </a:xfrm>
          <a:prstGeom prst="rect">
            <a:avLst/>
          </a:prstGeom>
          <a:solidFill>
            <a:srgbClr val="C0C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82496"/>
            <a:ext cx="10881360" cy="4535424"/>
          </a:xfrm>
          <a:prstGeom prst="rect">
            <a:avLst/>
          </a:prstGeom>
          <a:noFill/>
        </p:spPr>
        <p:txBody>
          <a:bodyPr wrap="square">
            <a:spAutoFit/>
          </a:bodyPr>
          <a:lstStyle/>
          <a:p>
            <a:pPr>
              <a:lnSpc>
                <a:spcPct val="100000"/>
              </a:lnSpc>
              <a:spcBef>
                <a:spcPts val="1000"/>
              </a:spcBef>
            </a:pPr>
            <a:r>
              <a:rPr sz="2000" b="1" i="0">
                <a:solidFill>
                  <a:srgbClr val="1A1A1A"/>
                </a:solidFill>
                <a:latin typeface="Times New Roman"/>
              </a:rPr>
              <a:t>Claim.</a:t>
            </a:r>
            <a:r>
              <a:rPr sz="2000" b="0" i="0">
                <a:solidFill>
                  <a:srgbClr val="1A1A1A"/>
                </a:solidFill>
                <a:latin typeface="Times New Roman"/>
              </a:rPr>
              <a:t> L3 = { w : #N = #S </a:t>
            </a:r>
            <a:r>
              <a:rPr sz="2000" b="1" i="0">
                <a:solidFill>
                  <a:srgbClr val="1A1A1A"/>
                </a:solidFill>
                <a:latin typeface="Times New Roman"/>
              </a:rPr>
              <a:t>and</a:t>
            </a:r>
            <a:r>
              <a:rPr sz="2000" b="0" i="0">
                <a:solidFill>
                  <a:srgbClr val="1A1A1A"/>
                </a:solidFill>
                <a:latin typeface="Times New Roman"/>
              </a:rPr>
              <a:t> #E = #W } is </a:t>
            </a:r>
            <a:r>
              <a:rPr sz="2000" b="1" i="0">
                <a:solidFill>
                  <a:srgbClr val="1A1A1A"/>
                </a:solidFill>
                <a:latin typeface="Times New Roman"/>
              </a:rPr>
              <a:t>not context-free</a:t>
            </a:r>
            <a:r>
              <a:rPr sz="2000" b="0" i="0">
                <a:solidFill>
                  <a:srgbClr val="1A1A1A"/>
                </a:solidFill>
                <a:latin typeface="Times New Roman"/>
              </a:rPr>
              <a:t> — so no PDA can answer question 3.</a:t>
            </a:r>
          </a:p>
          <a:p>
            <a:pPr>
              <a:lnSpc>
                <a:spcPct val="100000"/>
              </a:lnSpc>
              <a:spcBef>
                <a:spcPts val="1000"/>
              </a:spcBef>
            </a:pPr>
            <a:r>
              <a:rPr sz="2000" b="1" i="0">
                <a:solidFill>
                  <a:srgbClr val="1A1A1A"/>
                </a:solidFill>
                <a:latin typeface="Times New Roman"/>
              </a:rPr>
              <a:t>Proof sketch.</a:t>
            </a:r>
            <a:r>
              <a:rPr sz="2000" b="0" i="0">
                <a:solidFill>
                  <a:srgbClr val="1A1A1A"/>
                </a:solidFill>
                <a:latin typeface="Times New Roman"/>
              </a:rPr>
              <a:t> Context-free languages </a:t>
            </a:r>
            <a:r>
              <a:rPr sz="2000" b="1" i="0">
                <a:solidFill>
                  <a:srgbClr val="1A1A1A"/>
                </a:solidFill>
                <a:latin typeface="Times New Roman"/>
              </a:rPr>
              <a:t>are</a:t>
            </a:r>
            <a:r>
              <a:rPr sz="2000" b="0" i="0">
                <a:solidFill>
                  <a:srgbClr val="1A1A1A"/>
                </a:solidFill>
                <a:latin typeface="Times New Roman"/>
              </a:rPr>
              <a:t> closed under intersection with a regular language. Intersect L3 with </a:t>
            </a:r>
            <a:r>
              <a:rPr sz="2000" b="1" i="0">
                <a:solidFill>
                  <a:srgbClr val="1A1A1A"/>
                </a:solidFill>
                <a:latin typeface="Times New Roman"/>
              </a:rPr>
              <a:t>N*E*S*W</a:t>
            </a:r>
            <a:r>
              <a:rPr sz="2000" b="0" i="0">
                <a:solidFill>
                  <a:srgbClr val="1A1A1A"/>
                </a:solidFill>
                <a:latin typeface="Times New Roman"/>
              </a:rPr>
              <a:t>* and you get </a:t>
            </a:r>
            <a:r>
              <a:rPr sz="2000" b="1" i="0">
                <a:solidFill>
                  <a:srgbClr val="1A1A1A"/>
                </a:solidFill>
                <a:latin typeface="Times New Roman"/>
              </a:rPr>
              <a:t>{ NⁿEᵐSⁿWᵐ }</a:t>
            </a:r>
            <a:r>
              <a:rPr sz="2000" b="0" i="0">
                <a:solidFill>
                  <a:srgbClr val="1A1A1A"/>
                </a:solidFill>
                <a:latin typeface="Times New Roman"/>
              </a:rPr>
              <a:t>.</a:t>
            </a:r>
          </a:p>
          <a:p>
            <a:pPr>
              <a:lnSpc>
                <a:spcPct val="100000"/>
              </a:lnSpc>
              <a:spcBef>
                <a:spcPts val="1000"/>
              </a:spcBef>
            </a:pPr>
            <a:r>
              <a:rPr sz="2000" b="0" i="0">
                <a:solidFill>
                  <a:srgbClr val="1A1A1A"/>
                </a:solidFill>
                <a:latin typeface="Times New Roman"/>
              </a:rPr>
              <a:t>The CFL pumping lemma (Sipser, Thm 2.34) rules that out: one stack cannot keep two independent counts that interleave. So </a:t>
            </a:r>
            <a:r>
              <a:rPr sz="2000" b="1" i="0">
                <a:solidFill>
                  <a:srgbClr val="1A1A1A"/>
                </a:solidFill>
                <a:latin typeface="Times New Roman"/>
              </a:rPr>
              <a:t>L3 is not context-free</a:t>
            </a:r>
            <a:r>
              <a:rPr sz="2000" b="0" i="0">
                <a:solidFill>
                  <a:srgbClr val="1A1A1A"/>
                </a:solidFill>
                <a:latin typeface="Times New Roman"/>
              </a:rPr>
              <a:t>.</a:t>
            </a:r>
          </a:p>
          <a:p>
            <a:pPr>
              <a:lnSpc>
                <a:spcPct val="100000"/>
              </a:lnSpc>
              <a:spcBef>
                <a:spcPts val="1000"/>
              </a:spcBef>
            </a:pPr>
            <a:r>
              <a:rPr sz="2000" b="1" i="0">
                <a:solidFill>
                  <a:srgbClr val="1A1A1A"/>
                </a:solidFill>
                <a:latin typeface="Times New Roman"/>
              </a:rPr>
              <a:t>The bonus result.</a:t>
            </a:r>
            <a:r>
              <a:rPr sz="2000" b="0" i="0">
                <a:solidFill>
                  <a:srgbClr val="1A1A1A"/>
                </a:solidFill>
                <a:latin typeface="Times New Roman"/>
              </a:rPr>
              <a:t> #N = #S is context-free. #E = #W is context-free. Their intersection is not — a live demonstration that </a:t>
            </a:r>
            <a:r>
              <a:rPr sz="2000" b="1" i="0">
                <a:solidFill>
                  <a:srgbClr val="1A1A1A"/>
                </a:solidFill>
                <a:latin typeface="Times New Roman"/>
              </a:rPr>
              <a:t>CFLs are not closed under intersection</a:t>
            </a:r>
            <a:r>
              <a:rPr sz="2000" b="0" i="0">
                <a:solidFill>
                  <a:srgbClr val="1A1A1A"/>
                </a:solidFill>
                <a:latin typeface="Times New Roman"/>
              </a:rP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094415" y="6291072"/>
            <a:ext cx="640080" cy="320040"/>
          </a:xfrm>
          <a:prstGeom prst="rect">
            <a:avLst/>
          </a:prstGeom>
          <a:noFill/>
        </p:spPr>
        <p:txBody>
          <a:bodyPr wrap="none">
            <a:spAutoFit/>
          </a:bodyPr>
          <a:lstStyle/>
          <a:p>
            <a:pPr algn="r"/>
            <a:r>
              <a:rPr sz="1100">
                <a:solidFill>
                  <a:srgbClr val="595959"/>
                </a:solidFill>
                <a:latin typeface="Times New Roman"/>
              </a:rPr>
              <a:t>10</a:t>
            </a:r>
          </a:p>
        </p:txBody>
      </p:sp>
      <p:sp>
        <p:nvSpPr>
          <p:cNvPr id="3" name="TextBox 2"/>
          <p:cNvSpPr txBox="1"/>
          <p:nvPr/>
        </p:nvSpPr>
        <p:spPr>
          <a:xfrm>
            <a:off x="566928" y="384048"/>
            <a:ext cx="11064240" cy="310896"/>
          </a:xfrm>
          <a:prstGeom prst="rect">
            <a:avLst/>
          </a:prstGeom>
          <a:noFill/>
        </p:spPr>
        <p:txBody>
          <a:bodyPr wrap="square">
            <a:spAutoFit/>
          </a:bodyPr>
          <a:lstStyle/>
          <a:p>
            <a:r>
              <a:rPr sz="1400" b="1" i="0">
                <a:solidFill>
                  <a:srgbClr val="595959"/>
                </a:solidFill>
                <a:latin typeface="Times New Roman"/>
              </a:rPr>
              <a:t>IMPLEMENTATION</a:t>
            </a:r>
          </a:p>
        </p:txBody>
      </p:sp>
      <p:sp>
        <p:nvSpPr>
          <p:cNvPr id="4" name="TextBox 3"/>
          <p:cNvSpPr txBox="1"/>
          <p:nvPr/>
        </p:nvSpPr>
        <p:spPr>
          <a:xfrm>
            <a:off x="566928" y="713232"/>
            <a:ext cx="11064240" cy="777240"/>
          </a:xfrm>
          <a:prstGeom prst="rect">
            <a:avLst/>
          </a:prstGeom>
          <a:noFill/>
        </p:spPr>
        <p:txBody>
          <a:bodyPr wrap="square">
            <a:spAutoFit/>
          </a:bodyPr>
          <a:lstStyle/>
          <a:p>
            <a:r>
              <a:rPr sz="3100" b="1" i="0">
                <a:solidFill>
                  <a:srgbClr val="1F3864"/>
                </a:solidFill>
                <a:latin typeface="Times New Roman"/>
              </a:rPr>
              <a:t>Building it</a:t>
            </a:r>
          </a:p>
        </p:txBody>
      </p:sp>
      <p:sp>
        <p:nvSpPr>
          <p:cNvPr id="5" name="Rectangle 4"/>
          <p:cNvSpPr/>
          <p:nvPr/>
        </p:nvSpPr>
        <p:spPr>
          <a:xfrm>
            <a:off x="594360" y="1463040"/>
            <a:ext cx="11018520" cy="18288"/>
          </a:xfrm>
          <a:prstGeom prst="rect">
            <a:avLst/>
          </a:prstGeom>
          <a:solidFill>
            <a:srgbClr val="C0C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82496"/>
            <a:ext cx="10881360" cy="4535424"/>
          </a:xfrm>
          <a:prstGeom prst="rect">
            <a:avLst/>
          </a:prstGeom>
          <a:noFill/>
        </p:spPr>
        <p:txBody>
          <a:bodyPr wrap="square">
            <a:spAutoFit/>
          </a:bodyPr>
          <a:lstStyle/>
          <a:p>
            <a:pPr>
              <a:lnSpc>
                <a:spcPct val="100000"/>
              </a:lnSpc>
              <a:spcBef>
                <a:spcPts val="1000"/>
              </a:spcBef>
            </a:pPr>
            <a:r>
              <a:rPr sz="2000" b="1" i="0">
                <a:solidFill>
                  <a:srgbClr val="1A1A1A"/>
                </a:solidFill>
                <a:latin typeface="Times New Roman"/>
              </a:rPr>
              <a:t>Python 3.9+, standard library only. 9 files, 1,181 lines.</a:t>
            </a:r>
            <a:r>
              <a:rPr sz="2000" b="0" i="0">
                <a:solidFill>
                  <a:srgbClr val="1A1A1A"/>
                </a:solidFill>
                <a:latin typeface="Times New Roman"/>
              </a:rPr>
              <a:t> One package, one command-line driver.</a:t>
            </a:r>
          </a:p>
          <a:p>
            <a:pPr>
              <a:lnSpc>
                <a:spcPct val="100000"/>
              </a:lnSpc>
              <a:spcBef>
                <a:spcPts val="1000"/>
              </a:spcBef>
            </a:pPr>
            <a:r>
              <a:rPr sz="2000" b="1" i="0">
                <a:solidFill>
                  <a:srgbClr val="1A1A1A"/>
                </a:solidFill>
                <a:latin typeface="Times New Roman"/>
              </a:rPr>
              <a:t>The rule we held ourselves to: every tier is a real formal machine, not a counter wearing a machine's name.</a:t>
            </a:r>
          </a:p>
          <a:p>
            <a:pPr lvl="1">
              <a:lnSpc>
                <a:spcPct val="100000"/>
              </a:lnSpc>
              <a:spcBef>
                <a:spcPts val="400"/>
              </a:spcBef>
            </a:pPr>
            <a:r>
              <a:rPr sz="1800" b="0" i="0">
                <a:solidFill>
                  <a:srgbClr val="595959"/>
                </a:solidFill>
                <a:latin typeface="Times New Roman"/>
              </a:rPr>
              <a:t>Tier 1 reads its next state out of a dictionary keyed by (state, symbol). It never counts.</a:t>
            </a:r>
          </a:p>
          <a:p>
            <a:pPr lvl="1">
              <a:lnSpc>
                <a:spcPct val="100000"/>
              </a:lnSpc>
              <a:spcBef>
                <a:spcPts val="400"/>
              </a:spcBef>
            </a:pPr>
            <a:r>
              <a:rPr sz="1800" b="0" i="0">
                <a:solidFill>
                  <a:srgbClr val="595959"/>
                </a:solidFill>
                <a:latin typeface="Times New Roman"/>
              </a:rPr>
              <a:t>Tier 2 owns a Stack object exposing only push, pop, top and is_empty — the transition table decides which to call.</a:t>
            </a:r>
          </a:p>
          <a:p>
            <a:pPr lvl="1">
              <a:lnSpc>
                <a:spcPct val="100000"/>
              </a:lnSpc>
              <a:spcBef>
                <a:spcPts val="400"/>
              </a:spcBef>
            </a:pPr>
            <a:r>
              <a:rPr sz="1800" b="0" i="0">
                <a:solidFill>
                  <a:srgbClr val="595959"/>
                </a:solidFill>
                <a:latin typeface="Times New Roman"/>
              </a:rPr>
              <a:t>Tier 3 owns a Tape object with a head that moves exactly one cell per step.</a:t>
            </a:r>
          </a:p>
          <a:p>
            <a:pPr>
              <a:lnSpc>
                <a:spcPct val="100000"/>
              </a:lnSpc>
              <a:spcBef>
                <a:spcPts val="1000"/>
              </a:spcBef>
            </a:pPr>
            <a:r>
              <a:rPr sz="2000" b="1" i="0">
                <a:solidFill>
                  <a:srgbClr val="1A1A1A"/>
                </a:solidFill>
                <a:latin typeface="Times New Roman"/>
              </a:rPr>
              <a:t>Pipeline: one input → DFA → PDA → TM</a:t>
            </a:r>
            <a:r>
              <a:rPr sz="2000" b="0" i="0">
                <a:solidFill>
                  <a:srgbClr val="1A1A1A"/>
                </a:solidFill>
                <a:latin typeface="Times New Roman"/>
              </a:rPr>
              <a:t>, each printing its own trace. The three tiers share nothing but the input string.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094415" y="6291072"/>
            <a:ext cx="640080" cy="320040"/>
          </a:xfrm>
          <a:prstGeom prst="rect">
            <a:avLst/>
          </a:prstGeom>
          <a:noFill/>
        </p:spPr>
        <p:txBody>
          <a:bodyPr wrap="none">
            <a:spAutoFit/>
          </a:bodyPr>
          <a:lstStyle/>
          <a:p>
            <a:pPr algn="r"/>
            <a:r>
              <a:rPr sz="1100">
                <a:solidFill>
                  <a:srgbClr val="595959"/>
                </a:solidFill>
                <a:latin typeface="Times New Roman"/>
              </a:rPr>
              <a:t>11</a:t>
            </a:r>
          </a:p>
        </p:txBody>
      </p:sp>
      <p:sp>
        <p:nvSpPr>
          <p:cNvPr id="3" name="TextBox 2"/>
          <p:cNvSpPr txBox="1"/>
          <p:nvPr/>
        </p:nvSpPr>
        <p:spPr>
          <a:xfrm>
            <a:off x="566928" y="384048"/>
            <a:ext cx="11064240" cy="310896"/>
          </a:xfrm>
          <a:prstGeom prst="rect">
            <a:avLst/>
          </a:prstGeom>
          <a:noFill/>
        </p:spPr>
        <p:txBody>
          <a:bodyPr wrap="square">
            <a:spAutoFit/>
          </a:bodyPr>
          <a:lstStyle/>
          <a:p>
            <a:r>
              <a:rPr sz="1400" b="1" i="0">
                <a:solidFill>
                  <a:srgbClr val="595959"/>
                </a:solidFill>
                <a:latin typeface="Times New Roman"/>
              </a:rPr>
              <a:t>RESULTS</a:t>
            </a:r>
          </a:p>
        </p:txBody>
      </p:sp>
      <p:sp>
        <p:nvSpPr>
          <p:cNvPr id="4" name="TextBox 3"/>
          <p:cNvSpPr txBox="1"/>
          <p:nvPr/>
        </p:nvSpPr>
        <p:spPr>
          <a:xfrm>
            <a:off x="566928" y="713232"/>
            <a:ext cx="11064240" cy="777240"/>
          </a:xfrm>
          <a:prstGeom prst="rect">
            <a:avLst/>
          </a:prstGeom>
          <a:noFill/>
        </p:spPr>
        <p:txBody>
          <a:bodyPr wrap="square">
            <a:spAutoFit/>
          </a:bodyPr>
          <a:lstStyle/>
          <a:p>
            <a:r>
              <a:rPr sz="3100" b="1" i="0">
                <a:solidFill>
                  <a:srgbClr val="1F3864"/>
                </a:solidFill>
                <a:latin typeface="Times New Roman"/>
              </a:rPr>
              <a:t>Testing it</a:t>
            </a:r>
          </a:p>
        </p:txBody>
      </p:sp>
      <p:sp>
        <p:nvSpPr>
          <p:cNvPr id="5" name="Rectangle 4"/>
          <p:cNvSpPr/>
          <p:nvPr/>
        </p:nvSpPr>
        <p:spPr>
          <a:xfrm>
            <a:off x="594360" y="1463040"/>
            <a:ext cx="11018520" cy="18288"/>
          </a:xfrm>
          <a:prstGeom prst="rect">
            <a:avLst/>
          </a:prstGeom>
          <a:solidFill>
            <a:srgbClr val="C0C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82496"/>
            <a:ext cx="10881360" cy="4535424"/>
          </a:xfrm>
          <a:prstGeom prst="rect">
            <a:avLst/>
          </a:prstGeom>
          <a:noFill/>
        </p:spPr>
        <p:txBody>
          <a:bodyPr wrap="square">
            <a:spAutoFit/>
          </a:bodyPr>
          <a:lstStyle/>
          <a:p>
            <a:pPr>
              <a:lnSpc>
                <a:spcPct val="100000"/>
              </a:lnSpc>
              <a:spcBef>
                <a:spcPts val="1000"/>
              </a:spcBef>
            </a:pPr>
            <a:r>
              <a:rPr sz="2000" b="1" i="0">
                <a:solidFill>
                  <a:srgbClr val="1A1A1A"/>
                </a:solidFill>
                <a:latin typeface="Times New Roman"/>
              </a:rPr>
              <a:t>161 tests, all passing, about ten seconds.</a:t>
            </a:r>
            <a:r>
              <a:rPr sz="2000" b="0" i="0">
                <a:solidFill>
                  <a:srgbClr val="1A1A1A"/>
                </a:solidFill>
                <a:latin typeface="Times New Roman"/>
              </a:rPr>
              <a:t> Plain unittest, no third-party framework.</a:t>
            </a:r>
          </a:p>
          <a:p>
            <a:pPr>
              <a:lnSpc>
                <a:spcPct val="100000"/>
              </a:lnSpc>
              <a:spcBef>
                <a:spcPts val="1000"/>
              </a:spcBef>
            </a:pPr>
            <a:r>
              <a:rPr sz="2000" b="1" i="0">
                <a:solidFill>
                  <a:srgbClr val="1A1A1A"/>
                </a:solidFill>
                <a:latin typeface="Times New Roman"/>
              </a:rPr>
              <a:t>The oracle principle.</a:t>
            </a:r>
            <a:r>
              <a:rPr sz="2000" b="0" i="0">
                <a:solidFill>
                  <a:srgbClr val="1A1A1A"/>
                </a:solidFill>
                <a:latin typeface="Times New Roman"/>
              </a:rPr>
              <a:t> A separate, deliberately naive answerer — a regular expression for reversals, str.count for the balances — decides what the right answer is. </a:t>
            </a:r>
            <a:r>
              <a:rPr sz="2000" b="1" i="0">
                <a:solidFill>
                  <a:srgbClr val="1A1A1A"/>
                </a:solidFill>
                <a:latin typeface="Times New Roman"/>
              </a:rPr>
              <a:t>The machines are never graded by their own logic.</a:t>
            </a:r>
          </a:p>
          <a:p>
            <a:pPr>
              <a:lnSpc>
                <a:spcPct val="100000"/>
              </a:lnSpc>
              <a:spcBef>
                <a:spcPts val="1000"/>
              </a:spcBef>
            </a:pPr>
            <a:r>
              <a:rPr sz="2000" b="1" i="0">
                <a:solidFill>
                  <a:srgbClr val="1A1A1A"/>
                </a:solidFill>
                <a:latin typeface="Times New Roman"/>
              </a:rPr>
              <a:t>Exhaustive</a:t>
            </a:r>
            <a:r>
              <a:rPr sz="2000" b="0" i="0">
                <a:solidFill>
                  <a:srgbClr val="1A1A1A"/>
                </a:solidFill>
                <a:latin typeface="Times New Roman"/>
              </a:rPr>
              <a:t> to length 8: all </a:t>
            </a:r>
            <a:r>
              <a:rPr sz="2000" b="1" i="0">
                <a:solidFill>
                  <a:srgbClr val="1A1A1A"/>
                </a:solidFill>
                <a:latin typeface="Times New Roman"/>
              </a:rPr>
              <a:t>87,381</a:t>
            </a:r>
            <a:r>
              <a:rPr sz="2000" b="0" i="0">
                <a:solidFill>
                  <a:srgbClr val="1A1A1A"/>
                </a:solidFill>
                <a:latin typeface="Times New Roman"/>
              </a:rPr>
              <a:t> walks through all three machines. Plus 5,000 seeded random walks, 248 constructed near-misses, and a single 100,000-symbol input.</a:t>
            </a:r>
          </a:p>
          <a:p>
            <a:pPr>
              <a:lnSpc>
                <a:spcPct val="100000"/>
              </a:lnSpc>
              <a:spcBef>
                <a:spcPts val="1000"/>
              </a:spcBef>
            </a:pPr>
            <a:r>
              <a:rPr sz="2000" b="1" i="0">
                <a:solidFill>
                  <a:srgbClr val="1A1A1A"/>
                </a:solidFill>
                <a:latin typeface="Times New Roman"/>
              </a:rPr>
              <a:t>6 of the 8 possible verdict combinations actually occur.</a:t>
            </a:r>
            <a:r>
              <a:rPr sz="2000" b="0" i="0">
                <a:solidFill>
                  <a:srgbClr val="1A1A1A"/>
                </a:solidFill>
                <a:latin typeface="Times New Roman"/>
              </a:rPr>
              <a:t> The two that never appear are exactly the ones L3 ⊆ L2 forbids — the test census confirms the theory.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094415" y="6291072"/>
            <a:ext cx="640080" cy="320040"/>
          </a:xfrm>
          <a:prstGeom prst="rect">
            <a:avLst/>
          </a:prstGeom>
          <a:noFill/>
        </p:spPr>
        <p:txBody>
          <a:bodyPr wrap="none">
            <a:spAutoFit/>
          </a:bodyPr>
          <a:lstStyle/>
          <a:p>
            <a:pPr algn="r"/>
            <a:r>
              <a:rPr sz="1100">
                <a:solidFill>
                  <a:srgbClr val="595959"/>
                </a:solidFill>
                <a:latin typeface="Times New Roman"/>
              </a:rPr>
              <a:t>12</a:t>
            </a:r>
          </a:p>
        </p:txBody>
      </p:sp>
      <p:sp>
        <p:nvSpPr>
          <p:cNvPr id="3" name="TextBox 2"/>
          <p:cNvSpPr txBox="1"/>
          <p:nvPr/>
        </p:nvSpPr>
        <p:spPr>
          <a:xfrm>
            <a:off x="566928" y="384048"/>
            <a:ext cx="11064240" cy="310896"/>
          </a:xfrm>
          <a:prstGeom prst="rect">
            <a:avLst/>
          </a:prstGeom>
          <a:noFill/>
        </p:spPr>
        <p:txBody>
          <a:bodyPr wrap="square">
            <a:spAutoFit/>
          </a:bodyPr>
          <a:lstStyle/>
          <a:p>
            <a:r>
              <a:rPr sz="1400" b="1" i="0">
                <a:solidFill>
                  <a:srgbClr val="595959"/>
                </a:solidFill>
                <a:latin typeface="Times New Roman"/>
              </a:rPr>
              <a:t>PERFORMANCE</a:t>
            </a:r>
          </a:p>
        </p:txBody>
      </p:sp>
      <p:sp>
        <p:nvSpPr>
          <p:cNvPr id="4" name="TextBox 3"/>
          <p:cNvSpPr txBox="1"/>
          <p:nvPr/>
        </p:nvSpPr>
        <p:spPr>
          <a:xfrm>
            <a:off x="566928" y="713232"/>
            <a:ext cx="11064240" cy="777240"/>
          </a:xfrm>
          <a:prstGeom prst="rect">
            <a:avLst/>
          </a:prstGeom>
          <a:noFill/>
        </p:spPr>
        <p:txBody>
          <a:bodyPr wrap="square">
            <a:spAutoFit/>
          </a:bodyPr>
          <a:lstStyle/>
          <a:p>
            <a:r>
              <a:rPr sz="3100" b="1" i="0">
                <a:solidFill>
                  <a:srgbClr val="1F3864"/>
                </a:solidFill>
                <a:latin typeface="Times New Roman"/>
              </a:rPr>
              <a:t>What it costs</a:t>
            </a:r>
          </a:p>
        </p:txBody>
      </p:sp>
      <p:sp>
        <p:nvSpPr>
          <p:cNvPr id="5" name="Rectangle 4"/>
          <p:cNvSpPr/>
          <p:nvPr/>
        </p:nvSpPr>
        <p:spPr>
          <a:xfrm>
            <a:off x="594360" y="1463040"/>
            <a:ext cx="11018520" cy="18288"/>
          </a:xfrm>
          <a:prstGeom prst="rect">
            <a:avLst/>
          </a:prstGeom>
          <a:solidFill>
            <a:srgbClr val="C0C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82496"/>
            <a:ext cx="10881360" cy="4535424"/>
          </a:xfrm>
          <a:prstGeom prst="rect">
            <a:avLst/>
          </a:prstGeom>
          <a:noFill/>
        </p:spPr>
        <p:txBody>
          <a:bodyPr wrap="square">
            <a:spAutoFit/>
          </a:bodyPr>
          <a:lstStyle/>
          <a:p>
            <a:pPr>
              <a:lnSpc>
                <a:spcPct val="100000"/>
              </a:lnSpc>
              <a:spcBef>
                <a:spcPts val="1000"/>
              </a:spcBef>
            </a:pPr>
            <a:r>
              <a:rPr sz="1900" b="0" i="0">
                <a:solidFill>
                  <a:srgbClr val="1A1A1A"/>
                </a:solidFill>
                <a:latin typeface="Times New Roman"/>
              </a:rPr>
              <a:t>Measured in </a:t>
            </a:r>
            <a:r>
              <a:rPr sz="1900" b="1" i="0">
                <a:solidFill>
                  <a:srgbClr val="1A1A1A"/>
                </a:solidFill>
                <a:latin typeface="Times New Roman"/>
              </a:rPr>
              <a:t>machine steps</a:t>
            </a:r>
            <a:r>
              <a:rPr sz="1900" b="0" i="0">
                <a:solidFill>
                  <a:srgbClr val="1A1A1A"/>
                </a:solidFill>
                <a:latin typeface="Times New Roman"/>
              </a:rPr>
              <a:t>, not seconds — seconds would measure our laptop.</a:t>
            </a:r>
          </a:p>
          <a:p>
            <a:pPr>
              <a:lnSpc>
                <a:spcPct val="100000"/>
              </a:lnSpc>
              <a:spcBef>
                <a:spcPts val="1000"/>
              </a:spcBef>
            </a:pPr>
            <a:r>
              <a:rPr sz="1900" b="1" i="0">
                <a:solidFill>
                  <a:srgbClr val="1A1A1A"/>
                </a:solidFill>
                <a:latin typeface="Times New Roman"/>
              </a:rPr>
              <a:t>Tier 1: exactly n steps, 6 states, always.</a:t>
            </a:r>
            <a:r>
              <a:rPr sz="1900" b="0" i="0">
                <a:solidFill>
                  <a:srgbClr val="1A1A1A"/>
                </a:solidFill>
                <a:latin typeface="Times New Roman"/>
              </a:rPr>
              <a:t>   </a:t>
            </a:r>
            <a:r>
              <a:rPr sz="1900" b="1" i="0">
                <a:solidFill>
                  <a:srgbClr val="1A1A1A"/>
                </a:solidFill>
                <a:latin typeface="Times New Roman"/>
              </a:rPr>
              <a:t>Tier 2: n + 2 steps</a:t>
            </a:r>
            <a:r>
              <a:rPr sz="1900" b="0" i="0">
                <a:solidFill>
                  <a:srgbClr val="1A1A1A"/>
                </a:solidFill>
                <a:latin typeface="Times New Roman"/>
              </a:rPr>
              <a:t>, stack depth |#N − #S|.</a:t>
            </a:r>
          </a:p>
          <a:p>
            <a:pPr>
              <a:lnSpc>
                <a:spcPct val="100000"/>
              </a:lnSpc>
              <a:spcBef>
                <a:spcPts val="1000"/>
              </a:spcBef>
            </a:pPr>
            <a:r>
              <a:rPr sz="1900" b="1" i="0">
                <a:solidFill>
                  <a:srgbClr val="1A1A1A"/>
                </a:solidFill>
                <a:latin typeface="Times New Roman"/>
              </a:rPr>
              <a:t>Tier 3 takes exactly (n+1)(n+10) steps on every accepted walk of length n</a:t>
            </a:r>
            <a:r>
              <a:rPr sz="1900" b="0" i="0">
                <a:solidFill>
                  <a:srgbClr val="1A1A1A"/>
                </a:solidFill>
                <a:latin typeface="Times New Roman"/>
              </a:rPr>
              <a:t> — not an upper bound, the exact count, independent of how the letters are arranged.</a:t>
            </a:r>
          </a:p>
        </p:txBody>
      </p:sp>
      <p:graphicFrame>
        <p:nvGraphicFramePr>
          <p:cNvPr id="7" name="Table 6"/>
          <p:cNvGraphicFramePr>
            <a:graphicFrameLocks noGrp="1"/>
          </p:cNvGraphicFramePr>
          <p:nvPr/>
        </p:nvGraphicFramePr>
        <p:xfrm>
          <a:off x="685800" y="3529584"/>
          <a:ext cx="7132320" cy="1993392"/>
        </p:xfrm>
        <a:graphic>
          <a:graphicData uri="http://schemas.openxmlformats.org/drawingml/2006/table">
            <a:tbl>
              <a:tblPr firstRow="1" bandRow="1">
                <a:tableStyleId>{5C22544A-7EE6-4342-B048-85BDC9FD1C3A}</a:tableStyleId>
              </a:tblPr>
              <a:tblGrid>
                <a:gridCol w="2103120"/>
                <a:gridCol w="822960"/>
                <a:gridCol w="2103120"/>
                <a:gridCol w="2103120"/>
              </a:tblGrid>
              <a:tr h="398678">
                <a:tc>
                  <a:txBody>
                    <a:bodyPr/>
                    <a:lstStyle/>
                    <a:p>
                      <a:r>
                        <a:rPr sz="1500" b="1" i="0">
                          <a:solidFill>
                            <a:srgbClr val="FFFFFF"/>
                          </a:solidFill>
                          <a:latin typeface="Times New Roman"/>
                        </a:rPr>
                        <a:t>walk</a:t>
                      </a:r>
                    </a:p>
                  </a:txBody>
                  <a:tcPr anchor="ctr">
                    <a:solidFill>
                      <a:srgbClr val="1F3864"/>
                    </a:solidFill>
                  </a:tcPr>
                </a:tc>
                <a:tc>
                  <a:txBody>
                    <a:bodyPr/>
                    <a:lstStyle/>
                    <a:p>
                      <a:r>
                        <a:rPr sz="1500" b="1" i="0">
                          <a:solidFill>
                            <a:srgbClr val="FFFFFF"/>
                          </a:solidFill>
                          <a:latin typeface="Times New Roman"/>
                        </a:rPr>
                        <a:t>n</a:t>
                      </a:r>
                    </a:p>
                  </a:txBody>
                  <a:tcPr anchor="ctr">
                    <a:solidFill>
                      <a:srgbClr val="1F3864"/>
                    </a:solidFill>
                  </a:tcPr>
                </a:tc>
                <a:tc>
                  <a:txBody>
                    <a:bodyPr/>
                    <a:lstStyle/>
                    <a:p>
                      <a:r>
                        <a:rPr sz="1500" b="1" i="0">
                          <a:solidFill>
                            <a:srgbClr val="FFFFFF"/>
                          </a:solidFill>
                          <a:latin typeface="Times New Roman"/>
                        </a:rPr>
                        <a:t>steps measured</a:t>
                      </a:r>
                    </a:p>
                  </a:txBody>
                  <a:tcPr anchor="ctr">
                    <a:solidFill>
                      <a:srgbClr val="1F3864"/>
                    </a:solidFill>
                  </a:tcPr>
                </a:tc>
                <a:tc>
                  <a:txBody>
                    <a:bodyPr/>
                    <a:lstStyle/>
                    <a:p>
                      <a:r>
                        <a:rPr sz="1500" b="1" i="0">
                          <a:solidFill>
                            <a:srgbClr val="FFFFFF"/>
                          </a:solidFill>
                          <a:latin typeface="Times New Roman"/>
                        </a:rPr>
                        <a:t>(n+1)(n+10)</a:t>
                      </a:r>
                    </a:p>
                  </a:txBody>
                  <a:tcPr anchor="ctr">
                    <a:solidFill>
                      <a:srgbClr val="1F3864"/>
                    </a:solidFill>
                  </a:tcPr>
                </a:tc>
              </a:tr>
              <a:tr h="398678">
                <a:tc>
                  <a:txBody>
                    <a:bodyPr/>
                    <a:lstStyle/>
                    <a:p>
                      <a:r>
                        <a:rPr sz="1400" b="0" i="0">
                          <a:solidFill>
                            <a:srgbClr val="1A1A1A"/>
                          </a:solidFill>
                          <a:latin typeface="Courier New"/>
                        </a:rPr>
                        <a:t>NS</a:t>
                      </a:r>
                    </a:p>
                  </a:txBody>
                  <a:tcPr anchor="ctr">
                    <a:solidFill>
                      <a:srgbClr val="FFFFFF"/>
                    </a:solidFill>
                  </a:tcPr>
                </a:tc>
                <a:tc>
                  <a:txBody>
                    <a:bodyPr/>
                    <a:lstStyle/>
                    <a:p>
                      <a:r>
                        <a:rPr sz="1400" b="0" i="0">
                          <a:solidFill>
                            <a:srgbClr val="1A1A1A"/>
                          </a:solidFill>
                          <a:latin typeface="Times New Roman"/>
                        </a:rPr>
                        <a:t>2</a:t>
                      </a:r>
                    </a:p>
                  </a:txBody>
                  <a:tcPr anchor="ctr">
                    <a:solidFill>
                      <a:srgbClr val="FFFFFF"/>
                    </a:solidFill>
                  </a:tcPr>
                </a:tc>
                <a:tc>
                  <a:txBody>
                    <a:bodyPr/>
                    <a:lstStyle/>
                    <a:p>
                      <a:r>
                        <a:rPr sz="1400" b="0" i="0">
                          <a:solidFill>
                            <a:srgbClr val="1A1A1A"/>
                          </a:solidFill>
                          <a:latin typeface="Times New Roman"/>
                        </a:rPr>
                        <a:t>36</a:t>
                      </a:r>
                    </a:p>
                  </a:txBody>
                  <a:tcPr anchor="ctr">
                    <a:solidFill>
                      <a:srgbClr val="FFFFFF"/>
                    </a:solidFill>
                  </a:tcPr>
                </a:tc>
                <a:tc>
                  <a:txBody>
                    <a:bodyPr/>
                    <a:lstStyle/>
                    <a:p>
                      <a:r>
                        <a:rPr sz="1400" b="0" i="0">
                          <a:solidFill>
                            <a:srgbClr val="1A1A1A"/>
                          </a:solidFill>
                          <a:latin typeface="Times New Roman"/>
                        </a:rPr>
                        <a:t>36</a:t>
                      </a:r>
                    </a:p>
                  </a:txBody>
                  <a:tcPr anchor="ctr">
                    <a:solidFill>
                      <a:srgbClr val="FFFFFF"/>
                    </a:solidFill>
                  </a:tcPr>
                </a:tc>
              </a:tr>
              <a:tr h="398678">
                <a:tc>
                  <a:txBody>
                    <a:bodyPr/>
                    <a:lstStyle/>
                    <a:p>
                      <a:r>
                        <a:rPr sz="1400" b="0" i="0">
                          <a:solidFill>
                            <a:srgbClr val="1A1A1A"/>
                          </a:solidFill>
                          <a:latin typeface="Courier New"/>
                        </a:rPr>
                        <a:t>NESW</a:t>
                      </a:r>
                    </a:p>
                  </a:txBody>
                  <a:tcPr anchor="ctr">
                    <a:solidFill>
                      <a:srgbClr val="F2F4F8"/>
                    </a:solidFill>
                  </a:tcPr>
                </a:tc>
                <a:tc>
                  <a:txBody>
                    <a:bodyPr/>
                    <a:lstStyle/>
                    <a:p>
                      <a:r>
                        <a:rPr sz="1400" b="0" i="0">
                          <a:solidFill>
                            <a:srgbClr val="1A1A1A"/>
                          </a:solidFill>
                          <a:latin typeface="Times New Roman"/>
                        </a:rPr>
                        <a:t>4</a:t>
                      </a:r>
                    </a:p>
                  </a:txBody>
                  <a:tcPr anchor="ctr">
                    <a:solidFill>
                      <a:srgbClr val="F2F4F8"/>
                    </a:solidFill>
                  </a:tcPr>
                </a:tc>
                <a:tc>
                  <a:txBody>
                    <a:bodyPr/>
                    <a:lstStyle/>
                    <a:p>
                      <a:r>
                        <a:rPr sz="1400" b="0" i="0">
                          <a:solidFill>
                            <a:srgbClr val="1A1A1A"/>
                          </a:solidFill>
                          <a:latin typeface="Times New Roman"/>
                        </a:rPr>
                        <a:t>70</a:t>
                      </a:r>
                    </a:p>
                  </a:txBody>
                  <a:tcPr anchor="ctr">
                    <a:solidFill>
                      <a:srgbClr val="F2F4F8"/>
                    </a:solidFill>
                  </a:tcPr>
                </a:tc>
                <a:tc>
                  <a:txBody>
                    <a:bodyPr/>
                    <a:lstStyle/>
                    <a:p>
                      <a:r>
                        <a:rPr sz="1400" b="0" i="0">
                          <a:solidFill>
                            <a:srgbClr val="1A1A1A"/>
                          </a:solidFill>
                          <a:latin typeface="Times New Roman"/>
                        </a:rPr>
                        <a:t>70</a:t>
                      </a:r>
                    </a:p>
                  </a:txBody>
                  <a:tcPr anchor="ctr">
                    <a:solidFill>
                      <a:srgbClr val="F2F4F8"/>
                    </a:solidFill>
                  </a:tcPr>
                </a:tc>
              </a:tr>
              <a:tr h="398678">
                <a:tc>
                  <a:txBody>
                    <a:bodyPr/>
                    <a:lstStyle/>
                    <a:p>
                      <a:r>
                        <a:rPr sz="1400" b="0" i="0">
                          <a:solidFill>
                            <a:srgbClr val="1A1A1A"/>
                          </a:solidFill>
                          <a:latin typeface="Courier New"/>
                        </a:rPr>
                        <a:t>NNESSW</a:t>
                      </a:r>
                    </a:p>
                  </a:txBody>
                  <a:tcPr anchor="ctr">
                    <a:solidFill>
                      <a:srgbClr val="FFFFFF"/>
                    </a:solidFill>
                  </a:tcPr>
                </a:tc>
                <a:tc>
                  <a:txBody>
                    <a:bodyPr/>
                    <a:lstStyle/>
                    <a:p>
                      <a:r>
                        <a:rPr sz="1400" b="0" i="0">
                          <a:solidFill>
                            <a:srgbClr val="1A1A1A"/>
                          </a:solidFill>
                          <a:latin typeface="Times New Roman"/>
                        </a:rPr>
                        <a:t>6</a:t>
                      </a:r>
                    </a:p>
                  </a:txBody>
                  <a:tcPr anchor="ctr">
                    <a:solidFill>
                      <a:srgbClr val="FFFFFF"/>
                    </a:solidFill>
                  </a:tcPr>
                </a:tc>
                <a:tc>
                  <a:txBody>
                    <a:bodyPr/>
                    <a:lstStyle/>
                    <a:p>
                      <a:r>
                        <a:rPr sz="1400" b="0" i="0">
                          <a:solidFill>
                            <a:srgbClr val="1A1A1A"/>
                          </a:solidFill>
                          <a:latin typeface="Times New Roman"/>
                        </a:rPr>
                        <a:t>112</a:t>
                      </a:r>
                    </a:p>
                  </a:txBody>
                  <a:tcPr anchor="ctr">
                    <a:solidFill>
                      <a:srgbClr val="FFFFFF"/>
                    </a:solidFill>
                  </a:tcPr>
                </a:tc>
                <a:tc>
                  <a:txBody>
                    <a:bodyPr/>
                    <a:lstStyle/>
                    <a:p>
                      <a:r>
                        <a:rPr sz="1400" b="0" i="0">
                          <a:solidFill>
                            <a:srgbClr val="1A1A1A"/>
                          </a:solidFill>
                          <a:latin typeface="Times New Roman"/>
                        </a:rPr>
                        <a:t>112</a:t>
                      </a:r>
                    </a:p>
                  </a:txBody>
                  <a:tcPr anchor="ctr">
                    <a:solidFill>
                      <a:srgbClr val="FFFFFF"/>
                    </a:solidFill>
                  </a:tcPr>
                </a:tc>
              </a:tr>
              <a:tr h="398680">
                <a:tc>
                  <a:txBody>
                    <a:bodyPr/>
                    <a:lstStyle/>
                    <a:p>
                      <a:r>
                        <a:rPr sz="1400" b="0" i="0">
                          <a:solidFill>
                            <a:srgbClr val="1A1A1A"/>
                          </a:solidFill>
                          <a:latin typeface="Courier New"/>
                        </a:rPr>
                        <a:t>NNEESSWW</a:t>
                      </a:r>
                    </a:p>
                  </a:txBody>
                  <a:tcPr anchor="ctr">
                    <a:solidFill>
                      <a:srgbClr val="F2F4F8"/>
                    </a:solidFill>
                  </a:tcPr>
                </a:tc>
                <a:tc>
                  <a:txBody>
                    <a:bodyPr/>
                    <a:lstStyle/>
                    <a:p>
                      <a:r>
                        <a:rPr sz="1400" b="0" i="0">
                          <a:solidFill>
                            <a:srgbClr val="1A1A1A"/>
                          </a:solidFill>
                          <a:latin typeface="Times New Roman"/>
                        </a:rPr>
                        <a:t>8</a:t>
                      </a:r>
                    </a:p>
                  </a:txBody>
                  <a:tcPr anchor="ctr">
                    <a:solidFill>
                      <a:srgbClr val="F2F4F8"/>
                    </a:solidFill>
                  </a:tcPr>
                </a:tc>
                <a:tc>
                  <a:txBody>
                    <a:bodyPr/>
                    <a:lstStyle/>
                    <a:p>
                      <a:r>
                        <a:rPr sz="1400" b="0" i="0">
                          <a:solidFill>
                            <a:srgbClr val="1A1A1A"/>
                          </a:solidFill>
                          <a:latin typeface="Times New Roman"/>
                        </a:rPr>
                        <a:t>162</a:t>
                      </a:r>
                    </a:p>
                  </a:txBody>
                  <a:tcPr anchor="ctr">
                    <a:solidFill>
                      <a:srgbClr val="F2F4F8"/>
                    </a:solidFill>
                  </a:tcPr>
                </a:tc>
                <a:tc>
                  <a:txBody>
                    <a:bodyPr/>
                    <a:lstStyle/>
                    <a:p>
                      <a:r>
                        <a:rPr sz="1400" b="0" i="0">
                          <a:solidFill>
                            <a:srgbClr val="1A1A1A"/>
                          </a:solidFill>
                          <a:latin typeface="Times New Roman"/>
                        </a:rPr>
                        <a:t>162</a:t>
                      </a:r>
                    </a:p>
                  </a:txBody>
                  <a:tcPr anchor="ctr">
                    <a:solidFill>
                      <a:srgbClr val="F2F4F8"/>
                    </a:solidFill>
                  </a:tcPr>
                </a:tc>
              </a:tr>
            </a:tbl>
          </a:graphicData>
        </a:graphic>
      </p:graphicFrame>
      <p:sp>
        <p:nvSpPr>
          <p:cNvPr id="8" name="TextBox 7"/>
          <p:cNvSpPr txBox="1"/>
          <p:nvPr/>
        </p:nvSpPr>
        <p:spPr>
          <a:xfrm>
            <a:off x="7863840" y="3511296"/>
            <a:ext cx="3749039" cy="2194560"/>
          </a:xfrm>
          <a:prstGeom prst="rect">
            <a:avLst/>
          </a:prstGeom>
          <a:noFill/>
        </p:spPr>
        <p:txBody>
          <a:bodyPr wrap="square">
            <a:spAutoFit/>
          </a:bodyPr>
          <a:lstStyle/>
          <a:p>
            <a:pPr>
              <a:lnSpc>
                <a:spcPct val="100000"/>
              </a:lnSpc>
              <a:spcBef>
                <a:spcPts val="0"/>
              </a:spcBef>
            </a:pPr>
            <a:r>
              <a:rPr sz="1500" b="0" i="0">
                <a:solidFill>
                  <a:srgbClr val="1A1A1A"/>
                </a:solidFill>
                <a:latin typeface="Times New Roman"/>
              </a:rPr>
              <a:t>Verified against </a:t>
            </a:r>
            <a:r>
              <a:rPr sz="1500" b="1" i="0">
                <a:solidFill>
                  <a:srgbClr val="1A1A1A"/>
                </a:solidFill>
                <a:latin typeface="Times New Roman"/>
              </a:rPr>
              <a:t>all 1,398,101</a:t>
            </a:r>
            <a:r>
              <a:rPr sz="1500" b="0" i="0">
                <a:solidFill>
                  <a:srgbClr val="1A1A1A"/>
                </a:solidFill>
                <a:latin typeface="Times New Roman"/>
              </a:rPr>
              <a:t> accepted walks of length ≤ 10.</a:t>
            </a:r>
          </a:p>
          <a:p>
            <a:pPr>
              <a:lnSpc>
                <a:spcPct val="100000"/>
              </a:lnSpc>
              <a:spcBef>
                <a:spcPts val="1400"/>
              </a:spcBef>
            </a:pPr>
            <a:r>
              <a:rPr sz="1500" b="1" i="0">
                <a:solidFill>
                  <a:srgbClr val="1A1A1A"/>
                </a:solidFill>
                <a:latin typeface="Times New Roman"/>
              </a:rPr>
              <a:t>The worst case is an accepted input</a:t>
            </a:r>
            <a:r>
              <a:rPr sz="1500" b="0" i="0">
                <a:solidFill>
                  <a:srgbClr val="1A1A1A"/>
                </a:solidFill>
                <a:latin typeface="Times New Roman"/>
              </a:rPr>
              <a:t> — rejections quit early. NES is rejected in 40 steps, not the 52 the formula would give.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094415" y="6291072"/>
            <a:ext cx="640080" cy="320040"/>
          </a:xfrm>
          <a:prstGeom prst="rect">
            <a:avLst/>
          </a:prstGeom>
          <a:noFill/>
        </p:spPr>
        <p:txBody>
          <a:bodyPr wrap="none">
            <a:spAutoFit/>
          </a:bodyPr>
          <a:lstStyle/>
          <a:p>
            <a:pPr algn="r"/>
            <a:r>
              <a:rPr sz="1100">
                <a:solidFill>
                  <a:srgbClr val="595959"/>
                </a:solidFill>
                <a:latin typeface="Times New Roman"/>
              </a:rPr>
              <a:t>13</a:t>
            </a:r>
          </a:p>
        </p:txBody>
      </p:sp>
      <p:sp>
        <p:nvSpPr>
          <p:cNvPr id="3" name="TextBox 2"/>
          <p:cNvSpPr txBox="1"/>
          <p:nvPr/>
        </p:nvSpPr>
        <p:spPr>
          <a:xfrm>
            <a:off x="566928" y="384048"/>
            <a:ext cx="11064240" cy="310896"/>
          </a:xfrm>
          <a:prstGeom prst="rect">
            <a:avLst/>
          </a:prstGeom>
          <a:noFill/>
        </p:spPr>
        <p:txBody>
          <a:bodyPr wrap="square">
            <a:spAutoFit/>
          </a:bodyPr>
          <a:lstStyle/>
          <a:p>
            <a:r>
              <a:rPr sz="1400" b="1" i="0">
                <a:solidFill>
                  <a:srgbClr val="595959"/>
                </a:solidFill>
                <a:latin typeface="Times New Roman"/>
              </a:rPr>
              <a:t>CHALLENGES</a:t>
            </a:r>
          </a:p>
        </p:txBody>
      </p:sp>
      <p:sp>
        <p:nvSpPr>
          <p:cNvPr id="4" name="TextBox 3"/>
          <p:cNvSpPr txBox="1"/>
          <p:nvPr/>
        </p:nvSpPr>
        <p:spPr>
          <a:xfrm>
            <a:off x="566928" y="713232"/>
            <a:ext cx="11064240" cy="777240"/>
          </a:xfrm>
          <a:prstGeom prst="rect">
            <a:avLst/>
          </a:prstGeom>
          <a:noFill/>
        </p:spPr>
        <p:txBody>
          <a:bodyPr wrap="square">
            <a:spAutoFit/>
          </a:bodyPr>
          <a:lstStyle/>
          <a:p>
            <a:r>
              <a:rPr sz="3100" b="1" i="0">
                <a:solidFill>
                  <a:srgbClr val="1F3864"/>
                </a:solidFill>
                <a:latin typeface="Times New Roman"/>
              </a:rPr>
              <a:t>What went wrong, and what we did</a:t>
            </a:r>
          </a:p>
        </p:txBody>
      </p:sp>
      <p:sp>
        <p:nvSpPr>
          <p:cNvPr id="5" name="Rectangle 4"/>
          <p:cNvSpPr/>
          <p:nvPr/>
        </p:nvSpPr>
        <p:spPr>
          <a:xfrm>
            <a:off x="594360" y="1463040"/>
            <a:ext cx="11018520" cy="18288"/>
          </a:xfrm>
          <a:prstGeom prst="rect">
            <a:avLst/>
          </a:prstGeom>
          <a:solidFill>
            <a:srgbClr val="C0C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82496"/>
            <a:ext cx="10881360" cy="4535424"/>
          </a:xfrm>
          <a:prstGeom prst="rect">
            <a:avLst/>
          </a:prstGeom>
          <a:noFill/>
        </p:spPr>
        <p:txBody>
          <a:bodyPr wrap="square">
            <a:spAutoFit/>
          </a:bodyPr>
          <a:lstStyle/>
          <a:p>
            <a:pPr>
              <a:lnSpc>
                <a:spcPct val="100000"/>
              </a:lnSpc>
              <a:spcBef>
                <a:spcPts val="1000"/>
              </a:spcBef>
            </a:pPr>
            <a:r>
              <a:rPr sz="1900" b="1" i="0">
                <a:solidFill>
                  <a:srgbClr val="1A1A1A"/>
                </a:solidFill>
                <a:latin typeface="Times New Roman"/>
              </a:rPr>
              <a:t>Finding a problem the room can check.</a:t>
            </a:r>
            <a:r>
              <a:rPr sz="1900" b="0" i="0">
                <a:solidFill>
                  <a:srgbClr val="1A1A1A"/>
                </a:solidFill>
                <a:latin typeface="Times New Roman"/>
              </a:rPr>
              <a:t> We rejected an arithmetic validator (reads as a calculator) and a music-notation checker (needs music literacy) before landing on a walk anyone can trace with a finger.</a:t>
            </a:r>
          </a:p>
          <a:p>
            <a:pPr>
              <a:lnSpc>
                <a:spcPct val="100000"/>
              </a:lnSpc>
              <a:spcBef>
                <a:spcPts val="1000"/>
              </a:spcBef>
            </a:pPr>
            <a:r>
              <a:rPr sz="1900" b="1" i="0">
                <a:solidFill>
                  <a:srgbClr val="1A1A1A"/>
                </a:solidFill>
                <a:latin typeface="Times New Roman"/>
              </a:rPr>
              <a:t>Keeping the machines honest.</a:t>
            </a:r>
            <a:r>
              <a:rPr sz="1900" b="0" i="0">
                <a:solidFill>
                  <a:srgbClr val="1A1A1A"/>
                </a:solidFill>
                <a:latin typeface="Times New Roman"/>
              </a:rPr>
              <a:t> The easy version of this project is three counters with impressive names. We wrote the transition tables, the stack and the tape instead — and accepted that it would be slower.</a:t>
            </a:r>
          </a:p>
          <a:p>
            <a:pPr>
              <a:lnSpc>
                <a:spcPct val="100000"/>
              </a:lnSpc>
              <a:spcBef>
                <a:spcPts val="1000"/>
              </a:spcBef>
            </a:pPr>
            <a:r>
              <a:rPr sz="1900" b="1" i="0">
                <a:solidFill>
                  <a:srgbClr val="1A1A1A"/>
                </a:solidFill>
                <a:latin typeface="Times New Roman"/>
              </a:rPr>
              <a:t>A documentation error.</a:t>
            </a:r>
            <a:r>
              <a:rPr sz="1900" b="0" i="0">
                <a:solidFill>
                  <a:srgbClr val="1A1A1A"/>
                </a:solidFill>
                <a:latin typeface="Times New Roman"/>
              </a:rPr>
              <a:t> Weeks 4 and 5 claimed  NEWS  was accepted by Tier 1 despite doubling back. It contains </a:t>
            </a:r>
            <a:r>
              <a:rPr sz="1900" b="1" i="0">
                <a:solidFill>
                  <a:srgbClr val="1A1A1A"/>
                </a:solidFill>
                <a:latin typeface="Times New Roman"/>
              </a:rPr>
              <a:t>EW</a:t>
            </a:r>
            <a:r>
              <a:rPr sz="1900" b="0" i="0">
                <a:solidFill>
                  <a:srgbClr val="1A1A1A"/>
                </a:solidFill>
                <a:latin typeface="Times New Roman"/>
              </a:rPr>
              <a:t>, which is a reversal, so it is </a:t>
            </a:r>
            <a:r>
              <a:rPr sz="1900" b="1" i="0">
                <a:solidFill>
                  <a:srgbClr val="1A1A1A"/>
                </a:solidFill>
                <a:latin typeface="Times New Roman"/>
              </a:rPr>
              <a:t>rejected</a:t>
            </a:r>
            <a:r>
              <a:rPr sz="1900" b="0" i="0">
                <a:solidFill>
                  <a:srgbClr val="1A1A1A"/>
                </a:solidFill>
                <a:latin typeface="Times New Roman"/>
              </a:rPr>
              <a:t>. Exhaustive testing in Week 6 caught what proofreading had not.</a:t>
            </a:r>
          </a:p>
          <a:p>
            <a:pPr>
              <a:lnSpc>
                <a:spcPct val="100000"/>
              </a:lnSpc>
              <a:spcBef>
                <a:spcPts val="1000"/>
              </a:spcBef>
            </a:pPr>
            <a:r>
              <a:rPr sz="1900" b="1" i="0">
                <a:solidFill>
                  <a:srgbClr val="1A1A1A"/>
                </a:solidFill>
                <a:latin typeface="Times New Roman"/>
              </a:rPr>
              <a:t>A real defect.</a:t>
            </a:r>
            <a:r>
              <a:rPr sz="1900" b="0" i="0">
                <a:solidFill>
                  <a:srgbClr val="1A1A1A"/>
                </a:solidFill>
                <a:latin typeface="Times New Roman"/>
              </a:rPr>
              <a:t> The Turing machine had a fixed step limit, so any accepted walk longer than 1,408 symbols </a:t>
            </a:r>
            <a:r>
              <a:rPr sz="1900" b="1" i="0">
                <a:solidFill>
                  <a:srgbClr val="1A1A1A"/>
                </a:solidFill>
                <a:latin typeface="Times New Roman"/>
              </a:rPr>
              <a:t>raised an error instead of deciding</a:t>
            </a:r>
            <a:r>
              <a:rPr sz="1900" b="0" i="0">
                <a:solidFill>
                  <a:srgbClr val="1A1A1A"/>
                </a:solidFill>
                <a:latin typeface="Times New Roman"/>
              </a:rPr>
              <a:t> — it was not a decider at all above that size. Found in Week 7 by </a:t>
            </a:r>
            <a:r>
              <a:rPr sz="1900" b="1" i="0">
                <a:solidFill>
                  <a:srgbClr val="1A1A1A"/>
                </a:solidFill>
                <a:latin typeface="Times New Roman"/>
              </a:rPr>
              <a:t>measuring</a:t>
            </a:r>
            <a:r>
              <a:rPr sz="1900" b="0" i="0">
                <a:solidFill>
                  <a:srgbClr val="1A1A1A"/>
                </a:solidFill>
                <a:latin typeface="Times New Roman"/>
              </a:rPr>
              <a:t>, not testing. Fixed, with a regression test.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094415" y="6291072"/>
            <a:ext cx="640080" cy="320040"/>
          </a:xfrm>
          <a:prstGeom prst="rect">
            <a:avLst/>
          </a:prstGeom>
          <a:noFill/>
        </p:spPr>
        <p:txBody>
          <a:bodyPr wrap="none">
            <a:spAutoFit/>
          </a:bodyPr>
          <a:lstStyle/>
          <a:p>
            <a:pPr algn="r"/>
            <a:r>
              <a:rPr sz="1100">
                <a:solidFill>
                  <a:srgbClr val="595959"/>
                </a:solidFill>
                <a:latin typeface="Times New Roman"/>
              </a:rPr>
              <a:t>14</a:t>
            </a:r>
          </a:p>
        </p:txBody>
      </p:sp>
      <p:sp>
        <p:nvSpPr>
          <p:cNvPr id="3" name="TextBox 2"/>
          <p:cNvSpPr txBox="1"/>
          <p:nvPr/>
        </p:nvSpPr>
        <p:spPr>
          <a:xfrm>
            <a:off x="566928" y="384048"/>
            <a:ext cx="11064240" cy="310896"/>
          </a:xfrm>
          <a:prstGeom prst="rect">
            <a:avLst/>
          </a:prstGeom>
          <a:noFill/>
        </p:spPr>
        <p:txBody>
          <a:bodyPr wrap="square">
            <a:spAutoFit/>
          </a:bodyPr>
          <a:lstStyle/>
          <a:p>
            <a:r>
              <a:rPr sz="1400" b="1" i="0">
                <a:solidFill>
                  <a:srgbClr val="595959"/>
                </a:solidFill>
                <a:latin typeface="Times New Roman"/>
              </a:rPr>
              <a:t>LIMITATIONS</a:t>
            </a:r>
          </a:p>
        </p:txBody>
      </p:sp>
      <p:sp>
        <p:nvSpPr>
          <p:cNvPr id="4" name="TextBox 3"/>
          <p:cNvSpPr txBox="1"/>
          <p:nvPr/>
        </p:nvSpPr>
        <p:spPr>
          <a:xfrm>
            <a:off x="566928" y="713232"/>
            <a:ext cx="11064240" cy="777240"/>
          </a:xfrm>
          <a:prstGeom prst="rect">
            <a:avLst/>
          </a:prstGeom>
          <a:noFill/>
        </p:spPr>
        <p:txBody>
          <a:bodyPr wrap="square">
            <a:spAutoFit/>
          </a:bodyPr>
          <a:lstStyle/>
          <a:p>
            <a:r>
              <a:rPr sz="3100" b="1" i="0">
                <a:solidFill>
                  <a:srgbClr val="1F3864"/>
                </a:solidFill>
                <a:latin typeface="Times New Roman"/>
              </a:rPr>
              <a:t>Where the model stops</a:t>
            </a:r>
          </a:p>
        </p:txBody>
      </p:sp>
      <p:sp>
        <p:nvSpPr>
          <p:cNvPr id="5" name="Rectangle 4"/>
          <p:cNvSpPr/>
          <p:nvPr/>
        </p:nvSpPr>
        <p:spPr>
          <a:xfrm>
            <a:off x="594360" y="1463040"/>
            <a:ext cx="11018520" cy="18288"/>
          </a:xfrm>
          <a:prstGeom prst="rect">
            <a:avLst/>
          </a:prstGeom>
          <a:solidFill>
            <a:srgbClr val="C0C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82496"/>
            <a:ext cx="10881360" cy="4535424"/>
          </a:xfrm>
          <a:prstGeom prst="rect">
            <a:avLst/>
          </a:prstGeom>
          <a:noFill/>
        </p:spPr>
        <p:txBody>
          <a:bodyPr wrap="square">
            <a:spAutoFit/>
          </a:bodyPr>
          <a:lstStyle/>
          <a:p>
            <a:pPr>
              <a:lnSpc>
                <a:spcPct val="100000"/>
              </a:lnSpc>
              <a:spcBef>
                <a:spcPts val="1000"/>
              </a:spcBef>
            </a:pPr>
            <a:r>
              <a:rPr sz="2000" b="1" i="0">
                <a:solidFill>
                  <a:srgbClr val="1A1A1A"/>
                </a:solidFill>
                <a:latin typeface="Times New Roman"/>
              </a:rPr>
              <a:t>Unit steps are a unary encoding of distance.</a:t>
            </a:r>
            <a:r>
              <a:rPr sz="2000" b="0" i="0">
                <a:solidFill>
                  <a:srgbClr val="1A1A1A"/>
                </a:solidFill>
                <a:latin typeface="Times New Roman"/>
              </a:rPr>
              <a:t>  NNN  means “north 3”. Allow decimal distances —  N3 E2  — and the same balance check provably </a:t>
            </a:r>
            <a:r>
              <a:rPr sz="2000" b="1" i="0">
                <a:solidFill>
                  <a:srgbClr val="1A1A1A"/>
                </a:solidFill>
                <a:latin typeface="Times New Roman"/>
              </a:rPr>
              <a:t>exceeds what a PDA can do</a:t>
            </a:r>
            <a:r>
              <a:rPr sz="2000" b="0" i="0">
                <a:solidFill>
                  <a:srgbClr val="1A1A1A"/>
                </a:solidFill>
                <a:latin typeface="Times New Roman"/>
              </a:rPr>
              <a:t>.</a:t>
            </a:r>
          </a:p>
          <a:p>
            <a:pPr lvl="1">
              <a:lnSpc>
                <a:spcPct val="100000"/>
              </a:lnSpc>
              <a:spcBef>
                <a:spcPts val="400"/>
              </a:spcBef>
            </a:pPr>
            <a:r>
              <a:rPr sz="1800" b="0" i="0">
                <a:solidFill>
                  <a:srgbClr val="595959"/>
                </a:solidFill>
                <a:latin typeface="Times New Roman"/>
              </a:rPr>
              <a:t>The input encoding, not the question, decides which machine you need. That is the single most useful thing we learned.</a:t>
            </a:r>
          </a:p>
          <a:p>
            <a:pPr>
              <a:lnSpc>
                <a:spcPct val="100000"/>
              </a:lnSpc>
              <a:spcBef>
                <a:spcPts val="1000"/>
              </a:spcBef>
            </a:pPr>
            <a:r>
              <a:rPr sz="2000" b="1" i="0">
                <a:solidFill>
                  <a:srgbClr val="1A1A1A"/>
                </a:solidFill>
                <a:latin typeface="Times New Roman"/>
              </a:rPr>
              <a:t>Real motion is continuous.</a:t>
            </a:r>
            <a:r>
              <a:rPr sz="2000" b="0" i="0">
                <a:solidFill>
                  <a:srgbClr val="1A1A1A"/>
                </a:solidFill>
                <a:latin typeface="Times New Roman"/>
              </a:rPr>
              <a:t> 2.37 metres, arbitrary headings, GPS noise. Sensors must discretise the world into a string first, so the answer is </a:t>
            </a:r>
            <a:r>
              <a:rPr sz="2000" b="1" i="0">
                <a:solidFill>
                  <a:srgbClr val="1A1A1A"/>
                </a:solidFill>
                <a:latin typeface="Times New Roman"/>
              </a:rPr>
              <a:t>exact about the string and approximate about the world</a:t>
            </a:r>
            <a:r>
              <a:rPr sz="2000" b="0" i="0">
                <a:solidFill>
                  <a:srgbClr val="1A1A1A"/>
                </a:solidFill>
                <a:latin typeface="Times New Roman"/>
              </a:rPr>
              <a:t>.</a:t>
            </a:r>
          </a:p>
          <a:p>
            <a:pPr>
              <a:lnSpc>
                <a:spcPct val="100000"/>
              </a:lnSpc>
              <a:spcBef>
                <a:spcPts val="1000"/>
              </a:spcBef>
            </a:pPr>
            <a:r>
              <a:rPr sz="2000" b="1" i="0">
                <a:solidFill>
                  <a:srgbClr val="1A1A1A"/>
                </a:solidFill>
                <a:latin typeface="Times New Roman"/>
              </a:rPr>
              <a:t>Our Turing machine always halts — it is a decider.</a:t>
            </a:r>
            <a:r>
              <a:rPr sz="2000" b="0" i="0">
                <a:solidFill>
                  <a:srgbClr val="1A1A1A"/>
                </a:solidFill>
                <a:latin typeface="Times New Roman"/>
              </a:rPr>
              <a:t> The halting problem shows that not every Turing machine does. Our problem sits safely below that ceiling.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331720"/>
            <a:ext cx="12191695" cy="2194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4000" b="1" i="0">
                <a:solidFill>
                  <a:srgbClr val="FFFFFF"/>
                </a:solidFill>
                <a:latin typeface="Times New Roman"/>
              </a:rPr>
              <a:t>Live demonstration</a:t>
            </a:r>
          </a:p>
          <a:p>
            <a:pPr algn="ctr">
              <a:spcBef>
                <a:spcPts val="1400"/>
              </a:spcBef>
            </a:pPr>
            <a:r>
              <a:rPr sz="2100" b="0" i="1">
                <a:solidFill>
                  <a:srgbClr val="FFFFFF"/>
                </a:solidFill>
                <a:latin typeface="Times New Roman"/>
              </a:rPr>
              <a:t>Look at the picture and predict the three answers before the machines do.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64240" cy="310896"/>
          </a:xfrm>
          <a:prstGeom prst="rect">
            <a:avLst/>
          </a:prstGeom>
          <a:noFill/>
        </p:spPr>
        <p:txBody>
          <a:bodyPr wrap="square">
            <a:spAutoFit/>
          </a:bodyPr>
          <a:lstStyle/>
          <a:p>
            <a:r>
              <a:rPr sz="1400" b="1" i="0">
                <a:solidFill>
                  <a:srgbClr val="595959"/>
                </a:solidFill>
                <a:latin typeface="Times New Roman"/>
              </a:rPr>
              <a:t>IN SUMMARY</a:t>
            </a:r>
          </a:p>
        </p:txBody>
      </p:sp>
      <p:sp>
        <p:nvSpPr>
          <p:cNvPr id="3" name="TextBox 2"/>
          <p:cNvSpPr txBox="1"/>
          <p:nvPr/>
        </p:nvSpPr>
        <p:spPr>
          <a:xfrm>
            <a:off x="566928" y="713232"/>
            <a:ext cx="11064240" cy="777240"/>
          </a:xfrm>
          <a:prstGeom prst="rect">
            <a:avLst/>
          </a:prstGeom>
          <a:noFill/>
        </p:spPr>
        <p:txBody>
          <a:bodyPr wrap="square">
            <a:spAutoFit/>
          </a:bodyPr>
          <a:lstStyle/>
          <a:p>
            <a:r>
              <a:rPr sz="3100" b="1" i="0">
                <a:solidFill>
                  <a:srgbClr val="1F3864"/>
                </a:solidFill>
                <a:latin typeface="Times New Roman"/>
              </a:rPr>
              <a:t>What the project shows</a:t>
            </a:r>
          </a:p>
        </p:txBody>
      </p:sp>
      <p:sp>
        <p:nvSpPr>
          <p:cNvPr id="4" name="Rectangle 3"/>
          <p:cNvSpPr/>
          <p:nvPr/>
        </p:nvSpPr>
        <p:spPr>
          <a:xfrm>
            <a:off x="594360" y="1463040"/>
            <a:ext cx="11018520" cy="18288"/>
          </a:xfrm>
          <a:prstGeom prst="rect">
            <a:avLst/>
          </a:prstGeom>
          <a:solidFill>
            <a:srgbClr val="C0C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682496"/>
            <a:ext cx="10881360" cy="4535424"/>
          </a:xfrm>
          <a:prstGeom prst="rect">
            <a:avLst/>
          </a:prstGeom>
          <a:noFill/>
        </p:spPr>
        <p:txBody>
          <a:bodyPr wrap="square">
            <a:spAutoFit/>
          </a:bodyPr>
          <a:lstStyle/>
          <a:p>
            <a:pPr>
              <a:lnSpc>
                <a:spcPct val="100000"/>
              </a:lnSpc>
              <a:spcBef>
                <a:spcPts val="1000"/>
              </a:spcBef>
            </a:pPr>
            <a:r>
              <a:rPr sz="1900" b="0" i="0">
                <a:solidFill>
                  <a:srgbClr val="1A1A1A"/>
                </a:solidFill>
                <a:latin typeface="Times New Roman"/>
              </a:rPr>
              <a:t>One string, three questions, three machines — and each machine is </a:t>
            </a:r>
            <a:r>
              <a:rPr sz="1900" b="1" i="0">
                <a:solidFill>
                  <a:srgbClr val="1A1A1A"/>
                </a:solidFill>
                <a:latin typeface="Times New Roman"/>
              </a:rPr>
              <a:t>provably the weakest one that can answer its question</a:t>
            </a:r>
            <a:r>
              <a:rPr sz="1900" b="0" i="0">
                <a:solidFill>
                  <a:srgbClr val="1A1A1A"/>
                </a:solidFill>
                <a:latin typeface="Times New Roman"/>
              </a:rPr>
              <a:t>.</a:t>
            </a:r>
          </a:p>
          <a:p>
            <a:pPr>
              <a:lnSpc>
                <a:spcPct val="100000"/>
              </a:lnSpc>
              <a:spcBef>
                <a:spcPts val="1000"/>
              </a:spcBef>
            </a:pPr>
            <a:r>
              <a:rPr sz="1900" b="0" i="0">
                <a:solidFill>
                  <a:srgbClr val="1A1A1A"/>
                </a:solidFill>
                <a:latin typeface="Times New Roman"/>
              </a:rPr>
              <a:t>The hierarchy is not an abstraction here: you can </a:t>
            </a:r>
            <a:r>
              <a:rPr sz="1900" b="1" i="0">
                <a:solidFill>
                  <a:srgbClr val="1A1A1A"/>
                </a:solidFill>
                <a:latin typeface="Times New Roman"/>
              </a:rPr>
              <a:t>watch</a:t>
            </a:r>
            <a:r>
              <a:rPr sz="1900" b="0" i="0">
                <a:solidFill>
                  <a:srgbClr val="1A1A1A"/>
                </a:solidFill>
                <a:latin typeface="Times New Roman"/>
              </a:rPr>
              <a:t> finite memory run out, then </a:t>
            </a:r>
            <a:r>
              <a:rPr sz="1900" b="1" i="0">
                <a:solidFill>
                  <a:srgbClr val="1A1A1A"/>
                </a:solidFill>
                <a:latin typeface="Times New Roman"/>
              </a:rPr>
              <a:t>watch</a:t>
            </a:r>
            <a:r>
              <a:rPr sz="1900" b="0" i="0">
                <a:solidFill>
                  <a:srgbClr val="1A1A1A"/>
                </a:solidFill>
                <a:latin typeface="Times New Roman"/>
              </a:rPr>
              <a:t> one counter run out.</a:t>
            </a:r>
          </a:p>
          <a:p>
            <a:pPr>
              <a:lnSpc>
                <a:spcPct val="100000"/>
              </a:lnSpc>
              <a:spcBef>
                <a:spcPts val="1000"/>
              </a:spcBef>
            </a:pPr>
            <a:r>
              <a:rPr sz="1900" b="0" i="0">
                <a:solidFill>
                  <a:srgbClr val="1A1A1A"/>
                </a:solidFill>
                <a:latin typeface="Times New Roman"/>
              </a:rPr>
              <a:t>Everything is checked — </a:t>
            </a:r>
            <a:r>
              <a:rPr sz="1900" b="1" i="0">
                <a:solidFill>
                  <a:srgbClr val="1A1A1A"/>
                </a:solidFill>
                <a:latin typeface="Times New Roman"/>
              </a:rPr>
              <a:t>161 tests</a:t>
            </a:r>
            <a:r>
              <a:rPr sz="1900" b="0" i="0">
                <a:solidFill>
                  <a:srgbClr val="1A1A1A"/>
                </a:solidFill>
                <a:latin typeface="Times New Roman"/>
              </a:rPr>
              <a:t>, an independent oracle, and a measured cost that turned out to be </a:t>
            </a:r>
            <a:r>
              <a:rPr sz="1900" b="1" i="0">
                <a:solidFill>
                  <a:srgbClr val="1A1A1A"/>
                </a:solidFill>
                <a:latin typeface="Times New Roman"/>
              </a:rPr>
              <a:t>exact</a:t>
            </a:r>
            <a:r>
              <a:rPr sz="1900" b="0" i="0">
                <a:solidFill>
                  <a:srgbClr val="1A1A1A"/>
                </a:solidFill>
                <a:latin typeface="Times New Roman"/>
              </a:rPr>
              <a:t>.</a:t>
            </a:r>
          </a:p>
        </p:txBody>
      </p:sp>
      <p:sp>
        <p:nvSpPr>
          <p:cNvPr id="6" name="TextBox 5"/>
          <p:cNvSpPr txBox="1"/>
          <p:nvPr/>
        </p:nvSpPr>
        <p:spPr>
          <a:xfrm>
            <a:off x="685800" y="3968496"/>
            <a:ext cx="10881360" cy="1097280"/>
          </a:xfrm>
          <a:prstGeom prst="rect">
            <a:avLst/>
          </a:prstGeom>
          <a:noFill/>
        </p:spPr>
        <p:txBody>
          <a:bodyPr wrap="square">
            <a:spAutoFit/>
          </a:bodyPr>
          <a:lstStyle/>
          <a:p>
            <a:pPr algn="ctr"/>
            <a:r>
              <a:rPr sz="3200" b="1" i="0">
                <a:solidFill>
                  <a:srgbClr val="1F3864"/>
                </a:solidFill>
                <a:latin typeface="Times New Roman"/>
              </a:rPr>
              <a:t>Questions?</a:t>
            </a:r>
          </a:p>
          <a:p>
            <a:pPr algn="ctr">
              <a:spcBef>
                <a:spcPts val="1000"/>
              </a:spcBef>
            </a:pPr>
            <a:r>
              <a:rPr sz="1500" b="0" i="0">
                <a:solidFill>
                  <a:srgbClr val="595959"/>
                </a:solidFill>
                <a:latin typeface="Times New Roman"/>
              </a:rPr>
              <a:t>Sipser, M. (2013). Introduction to the theory of computation (3rd ed.). Cengage Learning.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